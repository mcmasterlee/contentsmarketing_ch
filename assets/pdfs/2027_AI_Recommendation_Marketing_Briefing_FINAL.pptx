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70" r:id="rId2"/>
    <p:sldId id="267" r:id="rId3"/>
    <p:sldId id="269" r:id="rId4"/>
    <p:sldId id="268" r:id="rId5"/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6" r:id="rId14"/>
    <p:sldId id="264" r:id="rId15"/>
    <p:sldId id="265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1" d="100"/>
          <a:sy n="101" d="100"/>
        </p:scale>
        <p:origin x="876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CA0547-FFA6-42E5-8B1A-3929A1B428DA}" type="datetimeFigureOut">
              <a:rPr lang="ko-KR" altLang="en-US" smtClean="0"/>
              <a:t>2026-09-08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C5FEBA-825F-4ECE-BA3F-6F42765B95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80430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E29AD0D3-917F-49ED-AA3B-64F91CE10279}"/>
              </a:ext>
            </a:extLst>
          </p:cNvPr>
          <p:cNvSpPr>
            <a:spLocks noGrp="1"/>
          </p:cNvSpPr>
          <p:nvPr/>
        </p:nvSpPr>
        <p:spPr>
          <a:xfrm>
            <a:off x="10559542" y="6472529"/>
            <a:ext cx="1177290" cy="177800"/>
          </a:xfrm>
          <a:prstGeom prst="rect">
            <a:avLst/>
          </a:prstGeom>
        </p:spPr>
        <p:txBody>
          <a:bodyPr vert="horz" wrap="square" lIns="0" tIns="12065" rIns="0" bIns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buNone/>
            </a:pPr>
            <a:r>
              <a:rPr sz="1000">
                <a:solidFill>
                  <a:srgbClr val="BEBEBE"/>
                </a:solidFill>
                <a:latin typeface="Calibri"/>
                <a:ea typeface="Calibri"/>
                <a:cs typeface="Calibri"/>
              </a:rPr>
              <a:t>VISANG</a:t>
            </a:r>
            <a:r>
              <a:rPr sz="1000" spc="-35">
                <a:solidFill>
                  <a:srgbClr val="BEBEBE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000">
                <a:solidFill>
                  <a:srgbClr val="BEBEBE"/>
                </a:solidFill>
                <a:latin typeface="Calibri"/>
                <a:ea typeface="Calibri"/>
                <a:cs typeface="Calibri"/>
              </a:rPr>
              <a:t>Education,</a:t>
            </a:r>
            <a:r>
              <a:rPr sz="1000" spc="-50">
                <a:solidFill>
                  <a:srgbClr val="BEBEBE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000" spc="-25">
                <a:solidFill>
                  <a:srgbClr val="BEBEBE"/>
                </a:solidFill>
                <a:latin typeface="Calibri"/>
                <a:ea typeface="Calibri"/>
                <a:cs typeface="Calibri"/>
              </a:rPr>
              <a:t>Inc</a:t>
            </a:r>
            <a:endParaRPr sz="1000">
              <a:latin typeface="Calibri"/>
              <a:ea typeface="Calibri"/>
              <a:cs typeface="Calibri"/>
            </a:endParaRPr>
          </a:p>
        </p:txBody>
      </p:sp>
      <p:pic>
        <p:nvPicPr>
          <p:cNvPr id="18" name="object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4715" y="781977"/>
            <a:ext cx="190657" cy="190145"/>
          </a:xfrm>
          <a:prstGeom prst="rect">
            <a:avLst/>
          </a:prstGeom>
        </p:spPr>
      </p:pic>
      <p:sp>
        <p:nvSpPr>
          <p:cNvPr id="5" name="object 5">
            <a:extLst>
              <a:ext uri="{FF2B5EF4-FFF2-40B4-BE49-F238E27FC236}">
                <a16:creationId xmlns:a16="http://schemas.microsoft.com/office/drawing/2014/main" id="{C384FF2A-2C3E-4161-B9A8-A71195881E01}"/>
              </a:ext>
            </a:extLst>
          </p:cNvPr>
          <p:cNvSpPr>
            <a:spLocks noGrp="1"/>
          </p:cNvSpPr>
          <p:nvPr/>
        </p:nvSpPr>
        <p:spPr>
          <a:xfrm>
            <a:off x="472389" y="506793"/>
            <a:ext cx="1475105" cy="261620"/>
          </a:xfrm>
          <a:custGeom>
            <a:avLst/>
            <a:gdLst/>
            <a:ahLst/>
            <a:cxnLst/>
            <a:rect l="l" t="t" r="r" b="b"/>
            <a:pathLst>
              <a:path w="1475105" h="261620">
                <a:moveTo>
                  <a:pt x="291858" y="20040"/>
                </a:moveTo>
                <a:lnTo>
                  <a:pt x="256336" y="1079"/>
                </a:lnTo>
                <a:lnTo>
                  <a:pt x="245694" y="0"/>
                </a:lnTo>
                <a:lnTo>
                  <a:pt x="230403" y="3479"/>
                </a:lnTo>
                <a:lnTo>
                  <a:pt x="217716" y="13030"/>
                </a:lnTo>
                <a:lnTo>
                  <a:pt x="206463" y="27305"/>
                </a:lnTo>
                <a:lnTo>
                  <a:pt x="195529" y="44970"/>
                </a:lnTo>
                <a:lnTo>
                  <a:pt x="145643" y="131724"/>
                </a:lnTo>
                <a:lnTo>
                  <a:pt x="96037" y="42684"/>
                </a:lnTo>
                <a:lnTo>
                  <a:pt x="85534" y="25260"/>
                </a:lnTo>
                <a:lnTo>
                  <a:pt x="74142" y="11785"/>
                </a:lnTo>
                <a:lnTo>
                  <a:pt x="61087" y="3086"/>
                </a:lnTo>
                <a:lnTo>
                  <a:pt x="45580" y="0"/>
                </a:lnTo>
                <a:lnTo>
                  <a:pt x="39154" y="114"/>
                </a:lnTo>
                <a:lnTo>
                  <a:pt x="32677" y="863"/>
                </a:lnTo>
                <a:lnTo>
                  <a:pt x="25984" y="2908"/>
                </a:lnTo>
                <a:lnTo>
                  <a:pt x="18910" y="6870"/>
                </a:lnTo>
                <a:lnTo>
                  <a:pt x="0" y="20040"/>
                </a:lnTo>
                <a:lnTo>
                  <a:pt x="68414" y="134835"/>
                </a:lnTo>
                <a:lnTo>
                  <a:pt x="116230" y="214909"/>
                </a:lnTo>
                <a:lnTo>
                  <a:pt x="139623" y="253707"/>
                </a:lnTo>
                <a:lnTo>
                  <a:pt x="140766" y="255143"/>
                </a:lnTo>
                <a:lnTo>
                  <a:pt x="142773" y="256578"/>
                </a:lnTo>
                <a:lnTo>
                  <a:pt x="148793" y="256578"/>
                </a:lnTo>
                <a:lnTo>
                  <a:pt x="150799" y="255143"/>
                </a:lnTo>
                <a:lnTo>
                  <a:pt x="151942" y="253707"/>
                </a:lnTo>
                <a:lnTo>
                  <a:pt x="175615" y="214426"/>
                </a:lnTo>
                <a:lnTo>
                  <a:pt x="291858" y="20040"/>
                </a:lnTo>
                <a:close/>
              </a:path>
              <a:path w="1475105" h="261620">
                <a:moveTo>
                  <a:pt x="643928" y="178117"/>
                </a:moveTo>
                <a:lnTo>
                  <a:pt x="634771" y="144602"/>
                </a:lnTo>
                <a:lnTo>
                  <a:pt x="610489" y="122593"/>
                </a:lnTo>
                <a:lnTo>
                  <a:pt x="575830" y="108813"/>
                </a:lnTo>
                <a:lnTo>
                  <a:pt x="535546" y="99936"/>
                </a:lnTo>
                <a:lnTo>
                  <a:pt x="518096" y="95529"/>
                </a:lnTo>
                <a:lnTo>
                  <a:pt x="505955" y="90411"/>
                </a:lnTo>
                <a:lnTo>
                  <a:pt x="498868" y="85204"/>
                </a:lnTo>
                <a:lnTo>
                  <a:pt x="496570" y="80467"/>
                </a:lnTo>
                <a:lnTo>
                  <a:pt x="496570" y="79590"/>
                </a:lnTo>
                <a:lnTo>
                  <a:pt x="498259" y="75006"/>
                </a:lnTo>
                <a:lnTo>
                  <a:pt x="503199" y="70764"/>
                </a:lnTo>
                <a:lnTo>
                  <a:pt x="511200" y="67640"/>
                </a:lnTo>
                <a:lnTo>
                  <a:pt x="522097" y="66421"/>
                </a:lnTo>
                <a:lnTo>
                  <a:pt x="542086" y="67881"/>
                </a:lnTo>
                <a:lnTo>
                  <a:pt x="562508" y="72237"/>
                </a:lnTo>
                <a:lnTo>
                  <a:pt x="582066" y="79489"/>
                </a:lnTo>
                <a:lnTo>
                  <a:pt x="599478" y="89636"/>
                </a:lnTo>
                <a:lnTo>
                  <a:pt x="600049" y="89916"/>
                </a:lnTo>
                <a:lnTo>
                  <a:pt x="638505" y="37528"/>
                </a:lnTo>
                <a:lnTo>
                  <a:pt x="637921" y="36957"/>
                </a:lnTo>
                <a:lnTo>
                  <a:pt x="614553" y="21844"/>
                </a:lnTo>
                <a:lnTo>
                  <a:pt x="588391" y="11214"/>
                </a:lnTo>
                <a:lnTo>
                  <a:pt x="558901" y="4927"/>
                </a:lnTo>
                <a:lnTo>
                  <a:pt x="525538" y="2870"/>
                </a:lnTo>
                <a:lnTo>
                  <a:pt x="481901" y="8851"/>
                </a:lnTo>
                <a:lnTo>
                  <a:pt x="448538" y="25844"/>
                </a:lnTo>
                <a:lnTo>
                  <a:pt x="427215" y="52400"/>
                </a:lnTo>
                <a:lnTo>
                  <a:pt x="419709" y="87058"/>
                </a:lnTo>
                <a:lnTo>
                  <a:pt x="419709" y="87909"/>
                </a:lnTo>
                <a:lnTo>
                  <a:pt x="452907" y="139522"/>
                </a:lnTo>
                <a:lnTo>
                  <a:pt x="524383" y="163220"/>
                </a:lnTo>
                <a:lnTo>
                  <a:pt x="542480" y="166585"/>
                </a:lnTo>
                <a:lnTo>
                  <a:pt x="556298" y="170167"/>
                </a:lnTo>
                <a:lnTo>
                  <a:pt x="565124" y="175145"/>
                </a:lnTo>
                <a:lnTo>
                  <a:pt x="568223" y="182702"/>
                </a:lnTo>
                <a:lnTo>
                  <a:pt x="565581" y="189039"/>
                </a:lnTo>
                <a:lnTo>
                  <a:pt x="558457" y="193217"/>
                </a:lnTo>
                <a:lnTo>
                  <a:pt x="548690" y="195580"/>
                </a:lnTo>
                <a:lnTo>
                  <a:pt x="538149" y="196443"/>
                </a:lnTo>
                <a:lnTo>
                  <a:pt x="521042" y="195694"/>
                </a:lnTo>
                <a:lnTo>
                  <a:pt x="498144" y="191998"/>
                </a:lnTo>
                <a:lnTo>
                  <a:pt x="472668" y="183794"/>
                </a:lnTo>
                <a:lnTo>
                  <a:pt x="447840" y="169519"/>
                </a:lnTo>
                <a:lnTo>
                  <a:pt x="447535" y="168948"/>
                </a:lnTo>
                <a:lnTo>
                  <a:pt x="405955" y="218782"/>
                </a:lnTo>
                <a:lnTo>
                  <a:pt x="462445" y="250355"/>
                </a:lnTo>
                <a:lnTo>
                  <a:pt x="534136" y="261162"/>
                </a:lnTo>
                <a:lnTo>
                  <a:pt x="579958" y="255600"/>
                </a:lnTo>
                <a:lnTo>
                  <a:pt x="614514" y="239471"/>
                </a:lnTo>
                <a:lnTo>
                  <a:pt x="636320" y="213563"/>
                </a:lnTo>
                <a:lnTo>
                  <a:pt x="643928" y="178689"/>
                </a:lnTo>
                <a:lnTo>
                  <a:pt x="643928" y="178117"/>
                </a:lnTo>
                <a:close/>
              </a:path>
              <a:path w="1475105" h="261620">
                <a:moveTo>
                  <a:pt x="1474812" y="131724"/>
                </a:moveTo>
                <a:lnTo>
                  <a:pt x="1464805" y="82473"/>
                </a:lnTo>
                <a:lnTo>
                  <a:pt x="1463636" y="80746"/>
                </a:lnTo>
                <a:lnTo>
                  <a:pt x="1437538" y="42240"/>
                </a:lnTo>
                <a:lnTo>
                  <a:pt x="1398841" y="16256"/>
                </a:lnTo>
                <a:lnTo>
                  <a:pt x="1398841" y="131724"/>
                </a:lnTo>
                <a:lnTo>
                  <a:pt x="1394815" y="151688"/>
                </a:lnTo>
                <a:lnTo>
                  <a:pt x="1383842" y="167982"/>
                </a:lnTo>
                <a:lnTo>
                  <a:pt x="1367612" y="178955"/>
                </a:lnTo>
                <a:lnTo>
                  <a:pt x="1347787" y="182981"/>
                </a:lnTo>
                <a:lnTo>
                  <a:pt x="1327785" y="178955"/>
                </a:lnTo>
                <a:lnTo>
                  <a:pt x="1311478" y="167982"/>
                </a:lnTo>
                <a:lnTo>
                  <a:pt x="1300480" y="151688"/>
                </a:lnTo>
                <a:lnTo>
                  <a:pt x="1296454" y="131724"/>
                </a:lnTo>
                <a:lnTo>
                  <a:pt x="1300480" y="111912"/>
                </a:lnTo>
                <a:lnTo>
                  <a:pt x="1311478" y="95707"/>
                </a:lnTo>
                <a:lnTo>
                  <a:pt x="1327785" y="84759"/>
                </a:lnTo>
                <a:lnTo>
                  <a:pt x="1347787" y="80746"/>
                </a:lnTo>
                <a:lnTo>
                  <a:pt x="1367612" y="84759"/>
                </a:lnTo>
                <a:lnTo>
                  <a:pt x="1383842" y="95707"/>
                </a:lnTo>
                <a:lnTo>
                  <a:pt x="1394815" y="111912"/>
                </a:lnTo>
                <a:lnTo>
                  <a:pt x="1398841" y="131724"/>
                </a:lnTo>
                <a:lnTo>
                  <a:pt x="1398841" y="16256"/>
                </a:lnTo>
                <a:lnTo>
                  <a:pt x="1397152" y="15113"/>
                </a:lnTo>
                <a:lnTo>
                  <a:pt x="1347787" y="5156"/>
                </a:lnTo>
                <a:lnTo>
                  <a:pt x="1298308" y="15113"/>
                </a:lnTo>
                <a:lnTo>
                  <a:pt x="1257947" y="42240"/>
                </a:lnTo>
                <a:lnTo>
                  <a:pt x="1230757" y="82473"/>
                </a:lnTo>
                <a:lnTo>
                  <a:pt x="1220787" y="131724"/>
                </a:lnTo>
                <a:lnTo>
                  <a:pt x="1230757" y="181140"/>
                </a:lnTo>
                <a:lnTo>
                  <a:pt x="1257947" y="221462"/>
                </a:lnTo>
                <a:lnTo>
                  <a:pt x="1298308" y="248627"/>
                </a:lnTo>
                <a:lnTo>
                  <a:pt x="1347787" y="258584"/>
                </a:lnTo>
                <a:lnTo>
                  <a:pt x="1397152" y="248627"/>
                </a:lnTo>
                <a:lnTo>
                  <a:pt x="1437538" y="221462"/>
                </a:lnTo>
                <a:lnTo>
                  <a:pt x="1463560" y="182981"/>
                </a:lnTo>
                <a:lnTo>
                  <a:pt x="1464805" y="181140"/>
                </a:lnTo>
                <a:lnTo>
                  <a:pt x="1474812" y="131724"/>
                </a:lnTo>
                <a:close/>
              </a:path>
            </a:pathLst>
          </a:custGeom>
          <a:solidFill>
            <a:srgbClr val="00B5E1"/>
          </a:solidFill>
        </p:spPr>
        <p:txBody>
          <a:bodyPr wrap="square" lIns="0" tIns="0" rIns="0" bIns="0"/>
          <a:lstStyle/>
          <a:p>
            <a:endParaRPr/>
          </a:p>
        </p:txBody>
      </p:sp>
      <p:pic>
        <p:nvPicPr>
          <p:cNvPr id="20" name="object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2317" y="510800"/>
            <a:ext cx="77998" cy="248556"/>
          </a:xfrm>
          <a:prstGeom prst="rect">
            <a:avLst/>
          </a:prstGeom>
        </p:spPr>
      </p:pic>
      <p:pic>
        <p:nvPicPr>
          <p:cNvPr id="21" name="object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17665" y="452662"/>
            <a:ext cx="71119" cy="84476"/>
          </a:xfrm>
          <a:prstGeom prst="rect">
            <a:avLst/>
          </a:prstGeom>
        </p:spPr>
      </p:pic>
      <p:sp>
        <p:nvSpPr>
          <p:cNvPr id="8" name="object 8">
            <a:extLst>
              <a:ext uri="{FF2B5EF4-FFF2-40B4-BE49-F238E27FC236}">
                <a16:creationId xmlns:a16="http://schemas.microsoft.com/office/drawing/2014/main" id="{209FD69F-F375-4322-B405-41C3918DACE0}"/>
              </a:ext>
            </a:extLst>
          </p:cNvPr>
          <p:cNvSpPr>
            <a:spLocks noGrp="1"/>
          </p:cNvSpPr>
          <p:nvPr/>
        </p:nvSpPr>
        <p:spPr>
          <a:xfrm>
            <a:off x="1132678" y="511945"/>
            <a:ext cx="254635" cy="254000"/>
          </a:xfrm>
          <a:custGeom>
            <a:avLst/>
            <a:gdLst/>
            <a:ahLst/>
            <a:cxnLst/>
            <a:rect l="l" t="t" r="r" b="b"/>
            <a:pathLst>
              <a:path w="254634" h="254000">
                <a:moveTo>
                  <a:pt x="126990" y="0"/>
                </a:moveTo>
                <a:lnTo>
                  <a:pt x="77644" y="9680"/>
                </a:lnTo>
                <a:lnTo>
                  <a:pt x="37269" y="36219"/>
                </a:lnTo>
                <a:lnTo>
                  <a:pt x="10007" y="75860"/>
                </a:lnTo>
                <a:lnTo>
                  <a:pt x="0" y="124848"/>
                </a:lnTo>
                <a:lnTo>
                  <a:pt x="8495" y="176509"/>
                </a:lnTo>
                <a:lnTo>
                  <a:pt x="31852" y="216411"/>
                </a:lnTo>
                <a:lnTo>
                  <a:pt x="66874" y="242675"/>
                </a:lnTo>
                <a:lnTo>
                  <a:pt x="110366" y="253423"/>
                </a:lnTo>
                <a:lnTo>
                  <a:pt x="131077" y="252277"/>
                </a:lnTo>
                <a:lnTo>
                  <a:pt x="131763" y="252277"/>
                </a:lnTo>
                <a:lnTo>
                  <a:pt x="151735" y="246874"/>
                </a:lnTo>
                <a:lnTo>
                  <a:pt x="168836" y="238565"/>
                </a:lnTo>
                <a:lnTo>
                  <a:pt x="182326" y="228511"/>
                </a:lnTo>
                <a:lnTo>
                  <a:pt x="253963" y="228511"/>
                </a:lnTo>
                <a:lnTo>
                  <a:pt x="253845" y="178397"/>
                </a:lnTo>
                <a:lnTo>
                  <a:pt x="124430" y="178397"/>
                </a:lnTo>
                <a:lnTo>
                  <a:pt x="104431" y="174375"/>
                </a:lnTo>
                <a:lnTo>
                  <a:pt x="88120" y="163400"/>
                </a:lnTo>
                <a:lnTo>
                  <a:pt x="77132" y="147108"/>
                </a:lnTo>
                <a:lnTo>
                  <a:pt x="73106" y="127139"/>
                </a:lnTo>
                <a:lnTo>
                  <a:pt x="77132" y="107334"/>
                </a:lnTo>
                <a:lnTo>
                  <a:pt x="88120" y="91124"/>
                </a:lnTo>
                <a:lnTo>
                  <a:pt x="104431" y="80175"/>
                </a:lnTo>
                <a:lnTo>
                  <a:pt x="124430" y="76155"/>
                </a:lnTo>
                <a:lnTo>
                  <a:pt x="242959" y="76155"/>
                </a:lnTo>
                <a:lnTo>
                  <a:pt x="242581" y="74532"/>
                </a:lnTo>
                <a:lnTo>
                  <a:pt x="215187" y="35682"/>
                </a:lnTo>
                <a:lnTo>
                  <a:pt x="175559" y="9680"/>
                </a:lnTo>
                <a:lnTo>
                  <a:pt x="175986" y="9680"/>
                </a:lnTo>
                <a:lnTo>
                  <a:pt x="126990" y="0"/>
                </a:lnTo>
                <a:close/>
              </a:path>
              <a:path w="254634" h="254000">
                <a:moveTo>
                  <a:pt x="253963" y="228511"/>
                </a:moveTo>
                <a:lnTo>
                  <a:pt x="182326" y="228511"/>
                </a:lnTo>
                <a:lnTo>
                  <a:pt x="182326" y="252277"/>
                </a:lnTo>
                <a:lnTo>
                  <a:pt x="254019" y="252277"/>
                </a:lnTo>
                <a:lnTo>
                  <a:pt x="253963" y="228511"/>
                </a:lnTo>
                <a:close/>
              </a:path>
              <a:path w="254634" h="254000">
                <a:moveTo>
                  <a:pt x="242959" y="76155"/>
                </a:moveTo>
                <a:lnTo>
                  <a:pt x="124430" y="76155"/>
                </a:lnTo>
                <a:lnTo>
                  <a:pt x="144251" y="80175"/>
                </a:lnTo>
                <a:lnTo>
                  <a:pt x="160472" y="91124"/>
                </a:lnTo>
                <a:lnTo>
                  <a:pt x="171426" y="107334"/>
                </a:lnTo>
                <a:lnTo>
                  <a:pt x="175447" y="127139"/>
                </a:lnTo>
                <a:lnTo>
                  <a:pt x="171426" y="147108"/>
                </a:lnTo>
                <a:lnTo>
                  <a:pt x="160472" y="163400"/>
                </a:lnTo>
                <a:lnTo>
                  <a:pt x="144251" y="174375"/>
                </a:lnTo>
                <a:lnTo>
                  <a:pt x="124430" y="178397"/>
                </a:lnTo>
                <a:lnTo>
                  <a:pt x="253845" y="178397"/>
                </a:lnTo>
                <a:lnTo>
                  <a:pt x="253719" y="124848"/>
                </a:lnTo>
                <a:lnTo>
                  <a:pt x="253713" y="122272"/>
                </a:lnTo>
                <a:lnTo>
                  <a:pt x="242959" y="76155"/>
                </a:lnTo>
                <a:close/>
              </a:path>
            </a:pathLst>
          </a:custGeom>
          <a:solidFill>
            <a:srgbClr val="00B5E1"/>
          </a:solidFill>
        </p:spPr>
        <p:txBody>
          <a:bodyPr wrap="square" lIns="0" tIns="0" rIns="0" bIns="0"/>
          <a:lstStyle/>
          <a:p>
            <a:endParaRPr/>
          </a:p>
        </p:txBody>
      </p:sp>
      <p:pic>
        <p:nvPicPr>
          <p:cNvPr id="23" name="object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16773" y="512785"/>
            <a:ext cx="253446" cy="251724"/>
          </a:xfrm>
          <a:prstGeom prst="rect">
            <a:avLst/>
          </a:prstGeom>
        </p:spPr>
      </p:pic>
      <p:pic>
        <p:nvPicPr>
          <p:cNvPr id="24" name="object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11" name="object 11">
            <a:extLst>
              <a:ext uri="{FF2B5EF4-FFF2-40B4-BE49-F238E27FC236}">
                <a16:creationId xmlns:a16="http://schemas.microsoft.com/office/drawing/2014/main" id="{51F18380-0296-4440-A7A7-221EC56FDA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826" y="3123659"/>
            <a:ext cx="5158740" cy="566822"/>
          </a:xfrm>
          <a:prstGeom prst="rect">
            <a:avLst/>
          </a:prstGeom>
        </p:spPr>
        <p:txBody>
          <a:bodyPr vert="horz" wrap="square" lIns="0" tIns="12700" rIns="0" bIns="0" anchor="ctr">
            <a:spAutoFit/>
          </a:bodyPr>
          <a:lstStyle/>
          <a:p>
            <a:pPr marR="5080" algn="r">
              <a:lnSpc>
                <a:spcPct val="100000"/>
              </a:lnSpc>
              <a:spcBef>
                <a:spcPts val="100"/>
              </a:spcBef>
              <a:buNone/>
              <a:defRPr sz="3600" b="1">
                <a:solidFill>
                  <a:srgbClr val="00B5E1"/>
                </a:solidFill>
              </a:defRPr>
            </a:pPr>
            <a:r>
              <a:rPr lang="en-US" sz="3600" b="1" spc="-80" dirty="0">
                <a:solidFill>
                  <a:srgbClr val="00B5E1"/>
                </a:solidFill>
                <a:latin typeface="맑은 고딕"/>
                <a:ea typeface="맑은 고딕"/>
                <a:cs typeface="맑은 고딕"/>
              </a:rPr>
              <a:t>9</a:t>
            </a:r>
            <a:r>
              <a:rPr lang="ko-KR" altLang="en-US" sz="3600" b="1" spc="-80" dirty="0">
                <a:solidFill>
                  <a:srgbClr val="00B5E1"/>
                </a:solidFill>
                <a:latin typeface="맑은 고딕"/>
                <a:ea typeface="맑은 고딕"/>
                <a:cs typeface="맑은 고딕"/>
              </a:rPr>
              <a:t>월 크리에이티브 한입</a:t>
            </a:r>
            <a:endParaRPr sz="3600" dirty="0"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85D79F3-B2CE-8E2B-FE0A-542FD396D228}"/>
              </a:ext>
            </a:extLst>
          </p:cNvPr>
          <p:cNvSpPr>
            <a:spLocks noGrp="1"/>
          </p:cNvSpPr>
          <p:nvPr/>
        </p:nvSpPr>
        <p:spPr>
          <a:xfrm>
            <a:off x="10722078" y="5273163"/>
            <a:ext cx="1115961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425" b="0">
                <a:solidFill>
                  <a:srgbClr val="20262D"/>
                </a:solidFill>
              </a:defRPr>
            </a:pPr>
            <a:r>
              <a:rPr sz="1425" b="0" dirty="0">
                <a:solidFill>
                  <a:srgbClr val="20262D"/>
                </a:solidFill>
              </a:rPr>
              <a:t>2026-0</a:t>
            </a:r>
            <a:r>
              <a:rPr lang="en-US" sz="1425" b="0" dirty="0">
                <a:solidFill>
                  <a:srgbClr val="20262D"/>
                </a:solidFill>
              </a:rPr>
              <a:t>9</a:t>
            </a:r>
            <a:r>
              <a:rPr sz="1425" b="0" dirty="0">
                <a:solidFill>
                  <a:srgbClr val="20262D"/>
                </a:solidFill>
              </a:rPr>
              <a:t>-</a:t>
            </a:r>
            <a:r>
              <a:rPr lang="en-US" sz="1425" b="0" dirty="0">
                <a:solidFill>
                  <a:srgbClr val="20262D"/>
                </a:solidFill>
              </a:rPr>
              <a:t>08</a:t>
            </a:r>
            <a:endParaRPr sz="1425" b="0" dirty="0">
              <a:solidFill>
                <a:srgbClr val="20262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13383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2BCD6CE-F502-C62B-80AC-69F16F81192E}"/>
              </a:ext>
            </a:extLst>
          </p:cNvPr>
          <p:cNvSpPr txBox="1"/>
          <p:nvPr/>
        </p:nvSpPr>
        <p:spPr>
          <a:xfrm>
            <a:off x="0" y="2619813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dirty="0">
                <a:solidFill>
                  <a:srgbClr val="FF0000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AI </a:t>
            </a:r>
            <a:r>
              <a:rPr lang="ko-KR" altLang="en-US" sz="4000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시대 우리의 마케팅 방향은</a:t>
            </a:r>
            <a:r>
              <a:rPr lang="en-US" altLang="ko-KR" sz="4000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?</a:t>
            </a:r>
            <a:endParaRPr lang="ko-KR" altLang="en-US" sz="4000" dirty="0"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607142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EF178E9-604C-1E74-6CDA-96E7E50CB4F0}"/>
              </a:ext>
            </a:extLst>
          </p:cNvPr>
          <p:cNvSpPr txBox="1"/>
          <p:nvPr/>
        </p:nvSpPr>
        <p:spPr>
          <a:xfrm>
            <a:off x="4837482" y="1289778"/>
            <a:ext cx="251703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000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검색의 변화</a:t>
            </a:r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AB68D920-8934-8D7D-CE6A-03014A701462}"/>
              </a:ext>
            </a:extLst>
          </p:cNvPr>
          <p:cNvSpPr/>
          <p:nvPr/>
        </p:nvSpPr>
        <p:spPr>
          <a:xfrm>
            <a:off x="2780081" y="2836717"/>
            <a:ext cx="2358737" cy="2369128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3200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포털</a:t>
            </a:r>
          </a:p>
        </p:txBody>
      </p:sp>
      <p:sp>
        <p:nvSpPr>
          <p:cNvPr id="6" name="화살표: 오른쪽 5">
            <a:extLst>
              <a:ext uri="{FF2B5EF4-FFF2-40B4-BE49-F238E27FC236}">
                <a16:creationId xmlns:a16="http://schemas.microsoft.com/office/drawing/2014/main" id="{3CAE364F-B083-665D-0EA5-50DE5CEFCEEC}"/>
              </a:ext>
            </a:extLst>
          </p:cNvPr>
          <p:cNvSpPr/>
          <p:nvPr/>
        </p:nvSpPr>
        <p:spPr>
          <a:xfrm>
            <a:off x="5559136" y="3429000"/>
            <a:ext cx="1278082" cy="945573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CF5A5D04-86CB-E6E3-4118-170BE99A6B3D}"/>
              </a:ext>
            </a:extLst>
          </p:cNvPr>
          <p:cNvSpPr/>
          <p:nvPr/>
        </p:nvSpPr>
        <p:spPr>
          <a:xfrm>
            <a:off x="7257536" y="2836717"/>
            <a:ext cx="2358737" cy="2369128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>
                <a:solidFill>
                  <a:srgbClr val="FFFF00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AI</a:t>
            </a:r>
            <a:endParaRPr lang="ko-KR" altLang="en-US" sz="4000" dirty="0">
              <a:solidFill>
                <a:srgbClr val="FFFF00"/>
              </a:solidFill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686331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8F4F60C-2C66-C964-73D4-2C3948EF7295}"/>
              </a:ext>
            </a:extLst>
          </p:cNvPr>
          <p:cNvSpPr txBox="1"/>
          <p:nvPr/>
        </p:nvSpPr>
        <p:spPr>
          <a:xfrm>
            <a:off x="0" y="2269307"/>
            <a:ext cx="121920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400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그렇다면 </a:t>
            </a:r>
            <a:endParaRPr lang="en-US" altLang="ko-KR" sz="4400" dirty="0"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  <a:p>
            <a:pPr algn="ctr"/>
            <a:r>
              <a:rPr lang="ko-KR" altLang="en-US" sz="4400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우리는 어떻게 대응해야 하는가</a:t>
            </a:r>
            <a:r>
              <a:rPr lang="en-US" altLang="ko-KR" sz="4400" dirty="0"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?</a:t>
            </a:r>
            <a:endParaRPr lang="ko-KR" altLang="en-US" sz="4400" dirty="0"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231429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26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640080"/>
            <a:ext cx="106984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91BEFF"/>
                </a:solidFill>
                <a:latin typeface="Noto Sans CJK KR"/>
              </a:rPr>
              <a:t>2027 CONTENT MARKETING BRIEFING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51560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Noto Sans CJK KR"/>
              </a:rPr>
              <a:t>AI가 교육을 답할 때,
비상교육이 기준이 되게 한다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971800"/>
            <a:ext cx="978408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DAE6F7"/>
                </a:solidFill>
                <a:latin typeface="Noto Sans CJK KR"/>
              </a:rPr>
              <a:t>검색되는 브랜드에서 → AI가 답변의 근거로 선택하고 추천하는 브랜드로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4069080"/>
            <a:ext cx="1060704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51560" y="4370832"/>
            <a:ext cx="530352" cy="530352"/>
          </a:xfrm>
          <a:prstGeom prst="ellipse">
            <a:avLst/>
          </a:prstGeom>
          <a:solidFill>
            <a:srgbClr val="E8F1FC"/>
          </a:solidFill>
          <a:ln>
            <a:solidFill>
              <a:srgbClr val="E8F1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51560" y="4370832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235BB4"/>
                </a:solidFill>
                <a:latin typeface="Noto Sans CJK KR"/>
              </a:rPr>
              <a:t>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4251960"/>
            <a:ext cx="89611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15263F"/>
                </a:solidFill>
                <a:latin typeface="Noto Sans CJK KR"/>
              </a:rPr>
              <a:t>“초등 수학을 공부하는데 어떤 문제집이 좋나요?”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83080" y="4645152"/>
            <a:ext cx="896112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687487"/>
                </a:solidFill>
                <a:latin typeface="Noto Sans CJK KR"/>
              </a:rPr>
              <a:t>→ 이 질문의 추천 후보군에 우리 교재가 자연스럽게 포함되도록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6080760"/>
            <a:ext cx="50292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AFBED3"/>
                </a:solidFill>
                <a:latin typeface="Noto Sans CJK KR"/>
              </a:rPr>
              <a:t>콘텐츠마케팅 Core · 2027 실행방향 사전 브리핑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9728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235BB4"/>
                </a:solidFill>
                <a:latin typeface="Noto Sans CJK KR"/>
              </a:rPr>
              <a:t>01. WHY 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15263F"/>
                </a:solidFill>
                <a:latin typeface="Noto Sans CJK KR"/>
              </a:rPr>
              <a:t>검색의 종착지가 ‘링크’에서 ‘답변’으로 이동하고 있다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828800"/>
            <a:ext cx="3429000" cy="2606040"/>
          </a:xfrm>
          <a:prstGeom prst="roundRect">
            <a:avLst/>
          </a:prstGeom>
          <a:solidFill>
            <a:srgbClr val="FFFFFF"/>
          </a:solidFill>
          <a:ln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2029968"/>
            <a:ext cx="731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235BB4"/>
                </a:solidFill>
                <a:latin typeface="Noto Sans CJK KR"/>
              </a:rPr>
              <a:t>과거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450592"/>
            <a:ext cx="29260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15263F"/>
                </a:solidFill>
                <a:latin typeface="Noto Sans CJK KR"/>
              </a:rPr>
              <a:t>검색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999232"/>
            <a:ext cx="29260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C2026"/>
                </a:solidFill>
                <a:latin typeface="Noto Sans CJK KR"/>
              </a:rPr>
              <a:t>키워드 입력 → 검색결과 클릭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886200"/>
            <a:ext cx="29260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238569"/>
                </a:solidFill>
                <a:latin typeface="Noto Sans CJK KR"/>
              </a:rPr>
              <a:t>SEO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2788920"/>
            <a:ext cx="3657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687487"/>
                </a:solidFill>
                <a:latin typeface="Noto Sans CJK KR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1828800"/>
            <a:ext cx="3429000" cy="2606040"/>
          </a:xfrm>
          <a:prstGeom prst="roundRect">
            <a:avLst/>
          </a:prstGeom>
          <a:solidFill>
            <a:srgbClr val="FFFFFF"/>
          </a:solidFill>
          <a:ln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709160" y="2029968"/>
            <a:ext cx="731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235BB4"/>
                </a:solidFill>
                <a:latin typeface="Noto Sans CJK KR"/>
              </a:rPr>
              <a:t>현재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60" y="2450592"/>
            <a:ext cx="29260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15263F"/>
                </a:solidFill>
                <a:latin typeface="Noto Sans CJK KR"/>
              </a:rPr>
              <a:t>AI 검색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2999232"/>
            <a:ext cx="29260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C2026"/>
                </a:solidFill>
                <a:latin typeface="Noto Sans CJK KR"/>
              </a:rPr>
              <a:t>질문 → 요약된 답변 + 출처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60" y="3886200"/>
            <a:ext cx="29260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238569"/>
                </a:solidFill>
                <a:latin typeface="Noto Sans CJK KR"/>
              </a:rPr>
              <a:t>SEO + AEO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09560" y="2788920"/>
            <a:ext cx="3657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687487"/>
                </a:solidFill>
                <a:latin typeface="Noto Sans CJK KR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75320" y="1828800"/>
            <a:ext cx="3429000" cy="2606040"/>
          </a:xfrm>
          <a:prstGeom prst="roundRect">
            <a:avLst/>
          </a:prstGeom>
          <a:solidFill>
            <a:srgbClr val="FFFFFF"/>
          </a:solidFill>
          <a:ln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503920" y="2029968"/>
            <a:ext cx="731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235BB4"/>
                </a:solidFill>
                <a:latin typeface="Noto Sans CJK KR"/>
              </a:rPr>
              <a:t>2027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2450592"/>
            <a:ext cx="29260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15263F"/>
                </a:solidFill>
                <a:latin typeface="Noto Sans CJK KR"/>
              </a:rPr>
              <a:t>AI 추천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2999232"/>
            <a:ext cx="29260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C2026"/>
                </a:solidFill>
                <a:latin typeface="Noto Sans CJK KR"/>
              </a:rPr>
              <a:t>상황 설명 → 비교·추천 → 구매/행동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3886200"/>
            <a:ext cx="29260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238569"/>
                </a:solidFill>
                <a:latin typeface="Noto Sans CJK KR"/>
              </a:rPr>
              <a:t>GEO + Recommendation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892040"/>
            <a:ext cx="10972800" cy="868680"/>
          </a:xfrm>
          <a:prstGeom prst="roundRect">
            <a:avLst/>
          </a:prstGeom>
          <a:solidFill>
            <a:srgbClr val="E8F1FC"/>
          </a:solidFill>
          <a:ln>
            <a:solidFill>
              <a:srgbClr val="E8F1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14400" y="5047488"/>
            <a:ext cx="10515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15263F"/>
                </a:solidFill>
                <a:latin typeface="Noto Sans CJK KR"/>
              </a:rPr>
              <a:t>핵심 변화  |  고객이 ‘어디를 클릭할까?’보다 ‘AI가 무엇을 답하고 추천할까?’가 중요해진다.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6510528"/>
            <a:ext cx="10927080" cy="9144"/>
          </a:xfrm>
          <a:prstGeom prst="rect">
            <a:avLst/>
          </a:prstGeom>
          <a:solidFill>
            <a:srgbClr val="DA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58368" y="6537960"/>
            <a:ext cx="987552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687487"/>
                </a:solidFill>
                <a:latin typeface="Noto Sans CJK KR"/>
              </a:rPr>
              <a:t>근거: OpenAI Help Center — ChatGPT Search / Shopping with ChatGPT Search (2026)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519672"/>
            <a:ext cx="5486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1">
                <a:solidFill>
                  <a:srgbClr val="687487"/>
                </a:solidFill>
                <a:latin typeface="Noto Sans CJK KR"/>
              </a:rPr>
              <a:t>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9728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235BB4"/>
                </a:solidFill>
                <a:latin typeface="Noto Sans CJK KR"/>
              </a:rPr>
              <a:t>02. 2027 GOAL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15263F"/>
                </a:solidFill>
                <a:latin typeface="Noto Sans CJK KR"/>
              </a:rPr>
              <a:t>우리의 목표는 ‘AI 노출’이 아니라 ‘답의 기준’이 되는 것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737360"/>
            <a:ext cx="10972800" cy="1143000"/>
          </a:xfrm>
          <a:prstGeom prst="roundRect">
            <a:avLst/>
          </a:prstGeom>
          <a:solidFill>
            <a:srgbClr val="15263F"/>
          </a:solidFill>
          <a:ln>
            <a:solidFill>
              <a:srgbClr val="1526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" y="1920240"/>
            <a:ext cx="104241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Noto Sans CJK KR"/>
              </a:rPr>
              <a:t>“고객이 AI에게 교육을 질문할 때,
비상교육의 콘텐츠와 브랜드가 신뢰할 수 있는 답의 근거가 되도록 한다.”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3337560"/>
            <a:ext cx="25146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68680" y="3566160"/>
            <a:ext cx="438912" cy="438912"/>
          </a:xfrm>
          <a:prstGeom prst="ellipse">
            <a:avLst/>
          </a:prstGeom>
          <a:solidFill>
            <a:srgbClr val="235BB4"/>
          </a:solidFill>
          <a:ln>
            <a:solidFill>
              <a:srgbClr val="235B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3566160"/>
            <a:ext cx="43891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CJK KR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35607" y="3547872"/>
            <a:ext cx="14630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15263F"/>
                </a:solidFill>
                <a:latin typeface="Noto Sans CJK KR"/>
              </a:rPr>
              <a:t>발견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4096512"/>
            <a:ext cx="21031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87487"/>
                </a:solidFill>
                <a:latin typeface="Noto Sans CJK KR"/>
              </a:rPr>
              <a:t>AI가 우리 콘텐츠를 찾을 수 있어야 한다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4720" y="3337560"/>
            <a:ext cx="25146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3657600" y="3566160"/>
            <a:ext cx="438912" cy="438912"/>
          </a:xfrm>
          <a:prstGeom prst="ellipse">
            <a:avLst/>
          </a:prstGeom>
          <a:solidFill>
            <a:srgbClr val="235BB4"/>
          </a:solidFill>
          <a:ln>
            <a:solidFill>
              <a:srgbClr val="235B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57600" y="3566160"/>
            <a:ext cx="43891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CJK KR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24528" y="3547872"/>
            <a:ext cx="14630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15263F"/>
                </a:solidFill>
                <a:latin typeface="Noto Sans CJK KR"/>
              </a:rPr>
              <a:t>이해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75887" y="4096512"/>
            <a:ext cx="21031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87487"/>
                </a:solidFill>
                <a:latin typeface="Noto Sans CJK KR"/>
              </a:rPr>
              <a:t>누구에게·왜 좋은지 명확히 읽혀야 한다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3337560"/>
            <a:ext cx="25146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6446520" y="3566160"/>
            <a:ext cx="438912" cy="438912"/>
          </a:xfrm>
          <a:prstGeom prst="ellipse">
            <a:avLst/>
          </a:prstGeom>
          <a:solidFill>
            <a:srgbClr val="235BB4"/>
          </a:solidFill>
          <a:ln>
            <a:solidFill>
              <a:srgbClr val="235B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46520" y="3566160"/>
            <a:ext cx="43891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CJK KR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13448" y="3547872"/>
            <a:ext cx="14630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15263F"/>
                </a:solidFill>
                <a:latin typeface="Noto Sans CJK KR"/>
              </a:rPr>
              <a:t>신뢰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64807" y="4096512"/>
            <a:ext cx="21031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87487"/>
                </a:solidFill>
                <a:latin typeface="Noto Sans CJK KR"/>
              </a:rPr>
              <a:t>공식정보·전문성·후기가 서로 증명해야 한다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52559" y="3337560"/>
            <a:ext cx="25146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9235439" y="3566160"/>
            <a:ext cx="438912" cy="438912"/>
          </a:xfrm>
          <a:prstGeom prst="ellipse">
            <a:avLst/>
          </a:prstGeom>
          <a:solidFill>
            <a:srgbClr val="235BB4"/>
          </a:solidFill>
          <a:ln>
            <a:solidFill>
              <a:srgbClr val="235B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235439" y="3566160"/>
            <a:ext cx="43891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CJK KR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02367" y="3547872"/>
            <a:ext cx="14630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15263F"/>
                </a:solidFill>
                <a:latin typeface="Noto Sans CJK KR"/>
              </a:rPr>
              <a:t>추천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53728" y="4096512"/>
            <a:ext cx="21031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87487"/>
                </a:solidFill>
                <a:latin typeface="Noto Sans CJK KR"/>
              </a:rPr>
              <a:t>실제 소비자 질문의 답변 후보에 들어가야 한다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394960"/>
            <a:ext cx="10789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235BB4"/>
                </a:solidFill>
                <a:latin typeface="Noto Sans CJK KR"/>
              </a:rPr>
              <a:t>2027 콘텐츠의 역할: ‘브랜드가 말하는 콘텐츠’ → ‘AI가 인용·비교·추천할 수 있는 근거 콘텐츠’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6510528"/>
            <a:ext cx="10927080" cy="9144"/>
          </a:xfrm>
          <a:prstGeom prst="rect">
            <a:avLst/>
          </a:prstGeom>
          <a:solidFill>
            <a:srgbClr val="DA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58368" y="6537960"/>
            <a:ext cx="987552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687487"/>
                </a:solidFill>
                <a:latin typeface="Noto Sans CJK KR"/>
              </a:rPr>
              <a:t>2027 콘텐츠마케팅 Core 브리핑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0" y="6519672"/>
            <a:ext cx="5486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1">
                <a:solidFill>
                  <a:srgbClr val="687487"/>
                </a:solidFill>
                <a:latin typeface="Noto Sans CJK KR"/>
              </a:rPr>
              <a:t>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9728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235BB4"/>
                </a:solidFill>
                <a:latin typeface="Noto Sans CJK KR"/>
              </a:rPr>
              <a:t>03. CHANNEL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15263F"/>
                </a:solidFill>
                <a:latin typeface="Noto Sans CJK KR"/>
              </a:rPr>
              <a:t>AI 추천을 만드는 5개의 근거 채널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91640"/>
            <a:ext cx="1097280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819656"/>
            <a:ext cx="11430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235BB4"/>
                </a:solidFill>
                <a:latin typeface="Noto Sans CJK KR"/>
              </a:rPr>
              <a:t>OWNED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65960" y="1783080"/>
            <a:ext cx="24231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15263F"/>
                </a:solidFill>
                <a:latin typeface="Noto Sans CJK KR"/>
              </a:rPr>
              <a:t>자사 웹사이트·비바샘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17720" y="1783080"/>
            <a:ext cx="11430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38569"/>
                </a:solidFill>
                <a:latin typeface="Noto Sans CJK KR"/>
              </a:rPr>
              <a:t>공식 정보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06440" y="1783080"/>
            <a:ext cx="539496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C2026"/>
                </a:solidFill>
                <a:latin typeface="Noto Sans CJK KR"/>
              </a:rPr>
              <a:t>상품 대상·난이도·특징·FAQ·비교정보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532888"/>
            <a:ext cx="1097280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2660904"/>
            <a:ext cx="11430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235BB4"/>
                </a:solidFill>
                <a:latin typeface="Noto Sans CJK KR"/>
              </a:rPr>
              <a:t>PUBLISHED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624328"/>
            <a:ext cx="24231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15263F"/>
                </a:solidFill>
                <a:latin typeface="Noto Sans CJK KR"/>
              </a:rPr>
              <a:t>블로그·뉴스·기고·연구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2624328"/>
            <a:ext cx="11430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38569"/>
                </a:solidFill>
                <a:latin typeface="Noto Sans CJK KR"/>
              </a:rPr>
              <a:t>전문성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06440" y="2624328"/>
            <a:ext cx="539496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C2026"/>
                </a:solidFill>
                <a:latin typeface="Noto Sans CJK KR"/>
              </a:rPr>
              <a:t>공부법·교육정책·전문가 의견·데이터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374136"/>
            <a:ext cx="1097280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68680" y="3502152"/>
            <a:ext cx="11430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235BB4"/>
                </a:solidFill>
                <a:latin typeface="Noto Sans CJK KR"/>
              </a:rPr>
              <a:t>EARNED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65960" y="3465576"/>
            <a:ext cx="24231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15263F"/>
                </a:solidFill>
                <a:latin typeface="Noto Sans CJK KR"/>
              </a:rPr>
              <a:t>교사·학부모·학생 후기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20" y="3465576"/>
            <a:ext cx="11430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38569"/>
                </a:solidFill>
                <a:latin typeface="Noto Sans CJK KR"/>
              </a:rPr>
              <a:t>신뢰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06440" y="3465576"/>
            <a:ext cx="539496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C2026"/>
                </a:solidFill>
                <a:latin typeface="Noto Sans CJK KR"/>
              </a:rPr>
              <a:t>실사용 경험·추천 이유·비교 맥락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4215384"/>
            <a:ext cx="1097280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68680" y="4343400"/>
            <a:ext cx="11430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235BB4"/>
                </a:solidFill>
                <a:latin typeface="Noto Sans CJK KR"/>
              </a:rPr>
              <a:t>COMMERCE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4306824"/>
            <a:ext cx="24231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15263F"/>
                </a:solidFill>
                <a:latin typeface="Noto Sans CJK KR"/>
              </a:rPr>
              <a:t>서점·자사몰·유통 플랫폼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17720" y="4306824"/>
            <a:ext cx="11430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38569"/>
                </a:solidFill>
                <a:latin typeface="Noto Sans CJK KR"/>
              </a:rPr>
              <a:t>상품 증거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06440" y="4306824"/>
            <a:ext cx="539496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C2026"/>
                </a:solidFill>
                <a:latin typeface="Noto Sans CJK KR"/>
              </a:rPr>
              <a:t>상품정보·리뷰·평점·판매·최신성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5056632"/>
            <a:ext cx="1097280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68680" y="5184648"/>
            <a:ext cx="11430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235BB4"/>
                </a:solidFill>
                <a:latin typeface="Noto Sans CJK KR"/>
              </a:rPr>
              <a:t>SOCIAL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65960" y="5148072"/>
            <a:ext cx="24231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15263F"/>
                </a:solidFill>
                <a:latin typeface="Noto Sans CJK KR"/>
              </a:rPr>
              <a:t>YouTube·SNS·Shorts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17720" y="5148072"/>
            <a:ext cx="11430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238569"/>
                </a:solidFill>
                <a:latin typeface="Noto Sans CJK KR"/>
              </a:rPr>
              <a:t>경험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06440" y="5148072"/>
            <a:ext cx="539496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C2026"/>
                </a:solidFill>
                <a:latin typeface="Noto Sans CJK KR"/>
              </a:rPr>
              <a:t>활용법·설명·체험·브랜드 기억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5800" y="5989320"/>
            <a:ext cx="10972800" cy="411480"/>
          </a:xfrm>
          <a:prstGeom prst="roundRect">
            <a:avLst/>
          </a:prstGeom>
          <a:solidFill>
            <a:srgbClr val="E8F1FC"/>
          </a:solidFill>
          <a:ln>
            <a:solidFill>
              <a:srgbClr val="E8F1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68680" y="6035040"/>
            <a:ext cx="106070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15263F"/>
                </a:solidFill>
                <a:latin typeface="Noto Sans CJK KR"/>
              </a:rPr>
              <a:t>→ AI(ChatGPT · Gemini · 네이버 AI 검색 등)는 ‘운영 채널’이 아니라 앞의 근거들이 만드는 결과 채널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" y="6510528"/>
            <a:ext cx="10927080" cy="9144"/>
          </a:xfrm>
          <a:prstGeom prst="rect">
            <a:avLst/>
          </a:prstGeom>
          <a:solidFill>
            <a:srgbClr val="DA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58368" y="6537960"/>
            <a:ext cx="987552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687487"/>
                </a:solidFill>
                <a:latin typeface="Noto Sans CJK KR"/>
              </a:rPr>
              <a:t>참고: 공개 웹 정보·구조화 상품정보·제3자 리뷰 등은 AI 검색/추천의 입력 근거가 될 수 있음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0" y="6519672"/>
            <a:ext cx="5486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1">
                <a:solidFill>
                  <a:srgbClr val="687487"/>
                </a:solidFill>
                <a:latin typeface="Noto Sans CJK KR"/>
              </a:rPr>
              <a:t>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9728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235BB4"/>
                </a:solidFill>
                <a:latin typeface="Noto Sans CJK KR"/>
              </a:rPr>
              <a:t>04. EVIDENCE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15263F"/>
                </a:solidFill>
                <a:latin typeface="Noto Sans CJK KR"/>
              </a:rPr>
              <a:t>AI가 추천할 수 있도록 ‘근거의 일관성’을 설계한다</a:t>
            </a:r>
          </a:p>
        </p:txBody>
      </p:sp>
      <p:sp>
        <p:nvSpPr>
          <p:cNvPr id="4" name="Oval 3"/>
          <p:cNvSpPr/>
          <p:nvPr/>
        </p:nvSpPr>
        <p:spPr>
          <a:xfrm>
            <a:off x="5074920" y="2240280"/>
            <a:ext cx="2011680" cy="2011680"/>
          </a:xfrm>
          <a:prstGeom prst="ellipse">
            <a:avLst/>
          </a:prstGeom>
          <a:solidFill>
            <a:srgbClr val="15263F"/>
          </a:solidFill>
          <a:ln>
            <a:solidFill>
              <a:srgbClr val="1526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120640" y="2922954"/>
            <a:ext cx="1920240" cy="64633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 dirty="0">
                <a:solidFill>
                  <a:srgbClr val="FFFFFF"/>
                </a:solidFill>
                <a:latin typeface="Noto Sans CJK KR"/>
              </a:rPr>
              <a:t>AI
Recommendation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828800"/>
            <a:ext cx="20116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235B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51560" y="1938528"/>
            <a:ext cx="17373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235BB4"/>
                </a:solidFill>
                <a:latin typeface="Noto Sans CJK KR"/>
              </a:rPr>
              <a:t>Official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267712"/>
            <a:ext cx="17373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1C2026"/>
                </a:solidFill>
                <a:latin typeface="Noto Sans CJK KR"/>
              </a:rPr>
              <a:t>자사 공식정보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0" y="4343400"/>
            <a:ext cx="20116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238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880360" y="4453128"/>
            <a:ext cx="17373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238569"/>
                </a:solidFill>
                <a:latin typeface="Noto Sans CJK KR"/>
              </a:rPr>
              <a:t>Expert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80360" y="4782312"/>
            <a:ext cx="17373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1C2026"/>
                </a:solidFill>
                <a:latin typeface="Noto Sans CJK KR"/>
              </a:rPr>
              <a:t>전문가·뉴스·연구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89520" y="4343400"/>
            <a:ext cx="20116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183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26680" y="4453128"/>
            <a:ext cx="17373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E18337"/>
                </a:solidFill>
                <a:latin typeface="Noto Sans CJK KR"/>
              </a:rPr>
              <a:t>Experience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26680" y="4782312"/>
            <a:ext cx="17373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1C2026"/>
                </a:solidFill>
                <a:latin typeface="Noto Sans CJK KR"/>
              </a:rPr>
              <a:t>교사·학부모 후기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81160" y="1828800"/>
            <a:ext cx="20116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BE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418320" y="1938528"/>
            <a:ext cx="17373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BE4444"/>
                </a:solidFill>
                <a:latin typeface="Noto Sans CJK KR"/>
              </a:rPr>
              <a:t>Product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18320" y="2267712"/>
            <a:ext cx="17373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1C2026"/>
                </a:solidFill>
                <a:latin typeface="Noto Sans CJK KR"/>
              </a:rPr>
              <a:t>서점·상품 데이터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926080" y="2286000"/>
            <a:ext cx="2148840" cy="640080"/>
          </a:xfrm>
          <a:prstGeom prst="line">
            <a:avLst/>
          </a:prstGeom>
          <a:ln w="2286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4297680" y="3831336"/>
            <a:ext cx="914400" cy="457200"/>
          </a:xfrm>
          <a:prstGeom prst="line">
            <a:avLst/>
          </a:prstGeom>
          <a:ln w="2286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 flipV="1">
            <a:off x="6766560" y="4032504"/>
            <a:ext cx="822960" cy="457200"/>
          </a:xfrm>
          <a:prstGeom prst="line">
            <a:avLst/>
          </a:prstGeom>
          <a:ln w="2286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7086600" y="2286000"/>
            <a:ext cx="2194560" cy="640080"/>
          </a:xfrm>
          <a:prstGeom prst="line">
            <a:avLst/>
          </a:prstGeom>
          <a:ln w="2286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822960" y="5532120"/>
            <a:ext cx="10561320" cy="566928"/>
          </a:xfrm>
          <a:prstGeom prst="roundRect">
            <a:avLst/>
          </a:prstGeom>
          <a:solidFill>
            <a:srgbClr val="F6F8FB"/>
          </a:solidFill>
          <a:ln>
            <a:solidFill>
              <a:srgbClr val="F6F8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05840" y="5632704"/>
            <a:ext cx="1014984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15263F"/>
                </a:solidFill>
                <a:latin typeface="Noto Sans CJK KR"/>
              </a:rPr>
              <a:t>한 채널의 ‘홍보 문구’가 아니라 여러 출처가 같은 사실을 말할 때 추천 가능성이 높아진다.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6510528"/>
            <a:ext cx="10927080" cy="9144"/>
          </a:xfrm>
          <a:prstGeom prst="rect">
            <a:avLst/>
          </a:prstGeom>
          <a:solidFill>
            <a:srgbClr val="DA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58368" y="6537960"/>
            <a:ext cx="987552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687487"/>
                </a:solidFill>
                <a:latin typeface="Noto Sans CJK KR"/>
              </a:rPr>
              <a:t>2027 콘텐츠마케팅 Core 브리핑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0" y="6519672"/>
            <a:ext cx="5486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1">
                <a:solidFill>
                  <a:srgbClr val="687487"/>
                </a:solidFill>
                <a:latin typeface="Noto Sans CJK KR"/>
              </a:rPr>
              <a:t>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9728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235BB4"/>
                </a:solidFill>
                <a:latin typeface="Noto Sans CJK KR"/>
              </a:rPr>
              <a:t>05. CONTENT PLANNING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15263F"/>
                </a:solidFill>
                <a:latin typeface="Noto Sans CJK KR"/>
              </a:rPr>
              <a:t>키워드 점유에서 ‘질문 점유’로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72768"/>
            <a:ext cx="51206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>
                <a:solidFill>
                  <a:srgbClr val="15263F"/>
                </a:solidFill>
                <a:latin typeface="Noto Sans CJK KR"/>
              </a:rPr>
              <a:t>예: 초등 수학 문제집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057400"/>
            <a:ext cx="9601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235BB4"/>
                </a:solidFill>
                <a:latin typeface="Noto Sans CJK KR"/>
              </a:rPr>
              <a:t>Category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2057400"/>
            <a:ext cx="42976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C2026"/>
                </a:solidFill>
                <a:latin typeface="Noto Sans CJK KR"/>
              </a:rPr>
              <a:t>초등 수학 문제집 추천해줘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624328"/>
            <a:ext cx="9601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235BB4"/>
                </a:solidFill>
                <a:latin typeface="Noto Sans CJK KR"/>
              </a:rPr>
              <a:t>학년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2624328"/>
            <a:ext cx="42976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C2026"/>
                </a:solidFill>
                <a:latin typeface="Noto Sans CJK KR"/>
              </a:rPr>
              <a:t>초5 수학 문제집 뭐가 좋아?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191256"/>
            <a:ext cx="9601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235BB4"/>
                </a:solidFill>
                <a:latin typeface="Noto Sans CJK KR"/>
              </a:rPr>
              <a:t>수준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3191256"/>
            <a:ext cx="42976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C2026"/>
                </a:solidFill>
                <a:latin typeface="Noto Sans CJK KR"/>
              </a:rPr>
              <a:t>수학을 어려워하는 아이에게 맞는 교재는?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758183"/>
            <a:ext cx="9601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235BB4"/>
                </a:solidFill>
                <a:latin typeface="Noto Sans CJK KR"/>
              </a:rPr>
              <a:t>목적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3758183"/>
            <a:ext cx="42976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C2026"/>
                </a:solidFill>
                <a:latin typeface="Noto Sans CJK KR"/>
              </a:rPr>
              <a:t>개념을 잡기 좋은 문제집은?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325112"/>
            <a:ext cx="9601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235BB4"/>
                </a:solidFill>
                <a:latin typeface="Noto Sans CJK KR"/>
              </a:rPr>
              <a:t>비교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4325112"/>
            <a:ext cx="42976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C2026"/>
                </a:solidFill>
                <a:latin typeface="Noto Sans CJK KR"/>
              </a:rPr>
              <a:t>A교재와 B교재 중 어떤 게 좋아?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892040"/>
            <a:ext cx="9601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235BB4"/>
                </a:solidFill>
                <a:latin typeface="Noto Sans CJK KR"/>
              </a:rPr>
              <a:t>상황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4892040"/>
            <a:ext cx="42976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C2026"/>
                </a:solidFill>
                <a:latin typeface="Noto Sans CJK KR"/>
              </a:rPr>
              <a:t>선행을 처음 시작할 때 어떤 교재가 좋아?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1600200"/>
            <a:ext cx="5166360" cy="4251960"/>
          </a:xfrm>
          <a:prstGeom prst="roundRect">
            <a:avLst/>
          </a:prstGeom>
          <a:solidFill>
            <a:srgbClr val="F6F8FB"/>
          </a:solidFill>
          <a:ln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720840" y="1874519"/>
            <a:ext cx="45262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15263F"/>
                </a:solidFill>
                <a:latin typeface="Noto Sans CJK KR"/>
              </a:rPr>
              <a:t>2027 팀별 콘텐츠 기획 원칙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20840" y="2468880"/>
            <a:ext cx="4846320" cy="1867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  <a:defRPr sz="1300">
                <a:solidFill>
                  <a:srgbClr val="1C2026"/>
                </a:solidFill>
                <a:latin typeface="Noto Sans CJK KR"/>
              </a:defRPr>
            </a:pPr>
            <a:r>
              <a:rPr dirty="0"/>
              <a:t>• </a:t>
            </a:r>
            <a:r>
              <a:rPr dirty="0" err="1"/>
              <a:t>상품명이</a:t>
            </a:r>
            <a:r>
              <a:rPr dirty="0"/>
              <a:t> </a:t>
            </a:r>
            <a:r>
              <a:rPr dirty="0" err="1"/>
              <a:t>아니라</a:t>
            </a:r>
            <a:r>
              <a:rPr dirty="0"/>
              <a:t> ‘</a:t>
            </a:r>
            <a:r>
              <a:rPr dirty="0" err="1"/>
              <a:t>고객</a:t>
            </a:r>
            <a:r>
              <a:rPr dirty="0"/>
              <a:t> </a:t>
            </a:r>
            <a:r>
              <a:rPr dirty="0" err="1"/>
              <a:t>질문’에서</a:t>
            </a:r>
            <a:r>
              <a:rPr dirty="0"/>
              <a:t> </a:t>
            </a:r>
            <a:r>
              <a:rPr dirty="0" err="1"/>
              <a:t>시작한다</a:t>
            </a:r>
            <a:endParaRPr dirty="0"/>
          </a:p>
          <a:p>
            <a:pPr>
              <a:lnSpc>
                <a:spcPct val="150000"/>
              </a:lnSpc>
              <a:spcAft>
                <a:spcPts val="600"/>
              </a:spcAft>
              <a:defRPr sz="1300">
                <a:solidFill>
                  <a:srgbClr val="1C2026"/>
                </a:solidFill>
                <a:latin typeface="Noto Sans CJK KR"/>
              </a:defRPr>
            </a:pPr>
            <a:r>
              <a:rPr dirty="0"/>
              <a:t>• </a:t>
            </a:r>
            <a:r>
              <a:rPr dirty="0" err="1"/>
              <a:t>대상·수준·목적·상황별</a:t>
            </a:r>
            <a:r>
              <a:rPr dirty="0"/>
              <a:t> </a:t>
            </a:r>
            <a:r>
              <a:rPr dirty="0" err="1"/>
              <a:t>답을</a:t>
            </a:r>
            <a:r>
              <a:rPr dirty="0"/>
              <a:t> </a:t>
            </a:r>
            <a:r>
              <a:rPr dirty="0" err="1"/>
              <a:t>세분화한다</a:t>
            </a:r>
            <a:endParaRPr dirty="0"/>
          </a:p>
          <a:p>
            <a:pPr>
              <a:lnSpc>
                <a:spcPct val="150000"/>
              </a:lnSpc>
              <a:spcAft>
                <a:spcPts val="600"/>
              </a:spcAft>
              <a:defRPr sz="1300">
                <a:solidFill>
                  <a:srgbClr val="1C2026"/>
                </a:solidFill>
                <a:latin typeface="Noto Sans CJK KR"/>
              </a:defRPr>
            </a:pPr>
            <a:r>
              <a:rPr dirty="0"/>
              <a:t>• </a:t>
            </a:r>
            <a:r>
              <a:rPr dirty="0" err="1"/>
              <a:t>추천</a:t>
            </a:r>
            <a:r>
              <a:rPr dirty="0"/>
              <a:t> </a:t>
            </a:r>
            <a:r>
              <a:rPr dirty="0" err="1"/>
              <a:t>이유를</a:t>
            </a:r>
            <a:r>
              <a:rPr dirty="0"/>
              <a:t> </a:t>
            </a:r>
            <a:r>
              <a:rPr dirty="0" err="1"/>
              <a:t>객관적</a:t>
            </a:r>
            <a:r>
              <a:rPr dirty="0"/>
              <a:t> </a:t>
            </a:r>
            <a:r>
              <a:rPr dirty="0" err="1"/>
              <a:t>근거와</a:t>
            </a:r>
            <a:r>
              <a:rPr dirty="0"/>
              <a:t> </a:t>
            </a:r>
            <a:r>
              <a:rPr dirty="0" err="1"/>
              <a:t>함께</a:t>
            </a:r>
            <a:r>
              <a:rPr dirty="0"/>
              <a:t> </a:t>
            </a:r>
            <a:r>
              <a:rPr dirty="0" err="1"/>
              <a:t>남긴다</a:t>
            </a:r>
            <a:endParaRPr dirty="0"/>
          </a:p>
          <a:p>
            <a:pPr>
              <a:lnSpc>
                <a:spcPct val="150000"/>
              </a:lnSpc>
              <a:spcAft>
                <a:spcPts val="600"/>
              </a:spcAft>
              <a:defRPr sz="1300">
                <a:solidFill>
                  <a:srgbClr val="1C2026"/>
                </a:solidFill>
                <a:latin typeface="Noto Sans CJK KR"/>
              </a:defRPr>
            </a:pPr>
            <a:r>
              <a:rPr dirty="0"/>
              <a:t>• </a:t>
            </a:r>
            <a:r>
              <a:rPr dirty="0" err="1"/>
              <a:t>같은</a:t>
            </a:r>
            <a:r>
              <a:rPr dirty="0"/>
              <a:t> </a:t>
            </a:r>
            <a:r>
              <a:rPr dirty="0" err="1"/>
              <a:t>핵심정보를</a:t>
            </a:r>
            <a:r>
              <a:rPr dirty="0"/>
              <a:t> </a:t>
            </a:r>
            <a:r>
              <a:rPr dirty="0" err="1"/>
              <a:t>웹·블로그·뉴스·커머스에</a:t>
            </a:r>
            <a:r>
              <a:rPr dirty="0"/>
              <a:t> </a:t>
            </a:r>
            <a:r>
              <a:rPr dirty="0" err="1"/>
              <a:t>일관되게</a:t>
            </a:r>
            <a:r>
              <a:rPr dirty="0"/>
              <a:t> </a:t>
            </a:r>
            <a:r>
              <a:rPr dirty="0" err="1"/>
              <a:t>배포한다</a:t>
            </a:r>
            <a:endParaRPr dirty="0"/>
          </a:p>
          <a:p>
            <a:pPr>
              <a:lnSpc>
                <a:spcPct val="150000"/>
              </a:lnSpc>
              <a:spcAft>
                <a:spcPts val="600"/>
              </a:spcAft>
              <a:defRPr sz="1300">
                <a:solidFill>
                  <a:srgbClr val="1C2026"/>
                </a:solidFill>
                <a:latin typeface="Noto Sans CJK KR"/>
              </a:defRPr>
            </a:pPr>
            <a:r>
              <a:rPr dirty="0"/>
              <a:t>• </a:t>
            </a:r>
            <a:r>
              <a:rPr dirty="0" err="1"/>
              <a:t>발행</a:t>
            </a:r>
            <a:r>
              <a:rPr dirty="0"/>
              <a:t> 후 AI </a:t>
            </a:r>
            <a:r>
              <a:rPr dirty="0" err="1"/>
              <a:t>답변에서</a:t>
            </a:r>
            <a:r>
              <a:rPr dirty="0"/>
              <a:t> </a:t>
            </a:r>
            <a:r>
              <a:rPr dirty="0" err="1"/>
              <a:t>실제</a:t>
            </a:r>
            <a:r>
              <a:rPr dirty="0"/>
              <a:t> </a:t>
            </a:r>
            <a:r>
              <a:rPr dirty="0" err="1"/>
              <a:t>언급</a:t>
            </a:r>
            <a:r>
              <a:rPr dirty="0"/>
              <a:t> </a:t>
            </a:r>
            <a:r>
              <a:rPr dirty="0" err="1"/>
              <a:t>여부를</a:t>
            </a:r>
            <a:r>
              <a:rPr dirty="0"/>
              <a:t> </a:t>
            </a:r>
            <a:r>
              <a:rPr dirty="0" err="1"/>
              <a:t>다시</a:t>
            </a:r>
            <a:r>
              <a:rPr dirty="0"/>
              <a:t> </a:t>
            </a:r>
            <a:r>
              <a:rPr dirty="0" err="1"/>
              <a:t>측정한다</a:t>
            </a:r>
            <a:endParaRPr dirty="0"/>
          </a:p>
        </p:txBody>
      </p:sp>
      <p:sp>
        <p:nvSpPr>
          <p:cNvPr id="20" name="Rounded Rectangle 19"/>
          <p:cNvSpPr/>
          <p:nvPr/>
        </p:nvSpPr>
        <p:spPr>
          <a:xfrm>
            <a:off x="731520" y="5989320"/>
            <a:ext cx="10835640" cy="384048"/>
          </a:xfrm>
          <a:prstGeom prst="roundRect">
            <a:avLst/>
          </a:prstGeom>
          <a:solidFill>
            <a:srgbClr val="E8F1FC"/>
          </a:solidFill>
          <a:ln>
            <a:solidFill>
              <a:srgbClr val="E8F1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4400" y="6035040"/>
            <a:ext cx="104698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15263F"/>
                </a:solidFill>
                <a:latin typeface="Noto Sans CJK KR"/>
              </a:rPr>
              <a:t>질문 100개를 선점하면, 콘텐츠 100개가 아니라 ‘100개의 추천 진입점’을 확보하는 것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6510528"/>
            <a:ext cx="10927080" cy="9144"/>
          </a:xfrm>
          <a:prstGeom prst="rect">
            <a:avLst/>
          </a:prstGeom>
          <a:solidFill>
            <a:srgbClr val="DA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58368" y="6537960"/>
            <a:ext cx="987552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687487"/>
                </a:solidFill>
                <a:latin typeface="Noto Sans CJK KR"/>
              </a:rPr>
              <a:t>2027 콘텐츠마케팅 Core 브리핑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0" y="6519672"/>
            <a:ext cx="5486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1">
                <a:solidFill>
                  <a:srgbClr val="687487"/>
                </a:solidFill>
                <a:latin typeface="Noto Sans CJK KR"/>
              </a:rPr>
              <a:t>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9728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235BB4"/>
                </a:solidFill>
                <a:latin typeface="Noto Sans CJK KR"/>
              </a:rPr>
              <a:t>06. TEAM 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15263F"/>
                </a:solidFill>
                <a:latin typeface="Noto Sans CJK KR"/>
              </a:rPr>
              <a:t>2027 세부 실행안은 각 팀이 ‘근거 채널’ 관점에서 설계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91640"/>
            <a:ext cx="34290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874520"/>
            <a:ext cx="29260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15263F"/>
                </a:solidFill>
                <a:latin typeface="Noto Sans CJK KR"/>
              </a:rPr>
              <a:t>브랜드/교재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350008"/>
            <a:ext cx="29260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C2026"/>
                </a:solidFill>
                <a:latin typeface="Noto Sans CJK KR"/>
              </a:rPr>
              <a:t>상품별 AI 추천 질문맵 구축
타깃·난이도·학습목적·차별점 표준화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1691640"/>
            <a:ext cx="34290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63440" y="1874520"/>
            <a:ext cx="29260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15263F"/>
                </a:solidFill>
                <a:latin typeface="Noto Sans CJK KR"/>
              </a:rPr>
              <a:t>콘텐츠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2350008"/>
            <a:ext cx="29260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C2026"/>
                </a:solidFill>
                <a:latin typeface="Noto Sans CJK KR"/>
              </a:rPr>
              <a:t>질문형·비교형·가이드형 콘텐츠 확대
전문가/데이터 기반 근거 강화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83879" y="1691640"/>
            <a:ext cx="34290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12480" y="1874520"/>
            <a:ext cx="29260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15263F"/>
                </a:solidFill>
                <a:latin typeface="Noto Sans CJK KR"/>
              </a:rPr>
              <a:t>PR/뉴스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2350008"/>
            <a:ext cx="29260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C2026"/>
                </a:solidFill>
                <a:latin typeface="Noto Sans CJK KR"/>
              </a:rPr>
              <a:t>브랜드 성과·연구·교육 전문성 기사화
외부 권위 출처 확보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749039"/>
            <a:ext cx="34290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3931920"/>
            <a:ext cx="29260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15263F"/>
                </a:solidFill>
                <a:latin typeface="Noto Sans CJK KR"/>
              </a:rPr>
              <a:t>CRM/채널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407407"/>
            <a:ext cx="29260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C2026"/>
                </a:solidFill>
                <a:latin typeface="Noto Sans CJK KR"/>
              </a:rPr>
              <a:t>블로그·웹·SNS·커머스 정보 일관성
최신정보 업데이트 체계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34840" y="3749039"/>
            <a:ext cx="34290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663440" y="3931920"/>
            <a:ext cx="29260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15263F"/>
                </a:solidFill>
                <a:latin typeface="Noto Sans CJK KR"/>
              </a:rPr>
              <a:t>체험/관계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4407407"/>
            <a:ext cx="29260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C2026"/>
                </a:solidFill>
                <a:latin typeface="Noto Sans CJK KR"/>
              </a:rPr>
              <a:t>교사·학부모 실사용 후기 축적
‘누구에게 왜 좋은가’ 경험 데이터화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83879" y="3749039"/>
            <a:ext cx="34290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412480" y="3931920"/>
            <a:ext cx="29260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15263F"/>
                </a:solidFill>
                <a:latin typeface="Noto Sans CJK KR"/>
              </a:rPr>
              <a:t>데이터/AI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4407407"/>
            <a:ext cx="29260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C2026"/>
                </a:solidFill>
                <a:latin typeface="Noto Sans CJK KR"/>
              </a:rPr>
              <a:t>AI별 질문 모니터링
언급률·추천순위·출처 분석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897880"/>
            <a:ext cx="10972800" cy="475488"/>
          </a:xfrm>
          <a:prstGeom prst="roundRect">
            <a:avLst/>
          </a:prstGeom>
          <a:solidFill>
            <a:srgbClr val="15263F"/>
          </a:solidFill>
          <a:ln>
            <a:solidFill>
              <a:srgbClr val="1526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68680" y="5980176"/>
            <a:ext cx="1060704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KR"/>
              </a:rPr>
              <a:t>요청사항  |  2027 실행계획 수립 시 ‘AI가 이 콘텐츠를 어떤 질문의 근거로 사용할 것인가?’를 반드시 명시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6510528"/>
            <a:ext cx="10927080" cy="9144"/>
          </a:xfrm>
          <a:prstGeom prst="rect">
            <a:avLst/>
          </a:prstGeom>
          <a:solidFill>
            <a:srgbClr val="DA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58368" y="6537960"/>
            <a:ext cx="987552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687487"/>
                </a:solidFill>
                <a:latin typeface="Noto Sans CJK KR"/>
              </a:rPr>
              <a:t>2027 콘텐츠마케팅 Core 브리핑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0" y="6519672"/>
            <a:ext cx="5486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1">
                <a:solidFill>
                  <a:srgbClr val="687487"/>
                </a:solidFill>
                <a:latin typeface="Noto Sans CJK KR"/>
              </a:rPr>
              <a:t>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9728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235BB4"/>
                </a:solidFill>
                <a:latin typeface="Noto Sans CJK KR"/>
              </a:rPr>
              <a:t>07. KPI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15263F"/>
                </a:solidFill>
                <a:latin typeface="Noto Sans CJK KR"/>
              </a:rPr>
              <a:t>조회수만 보지 않는다: ‘AI 추천 점유율’을 새 KPI로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45920"/>
            <a:ext cx="3749039" cy="4343400"/>
          </a:xfrm>
          <a:prstGeom prst="roundRect">
            <a:avLst/>
          </a:prstGeom>
          <a:solidFill>
            <a:srgbClr val="15263F"/>
          </a:solidFill>
          <a:ln>
            <a:solidFill>
              <a:srgbClr val="1526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" y="1965960"/>
            <a:ext cx="3200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Noto Sans CJK KR"/>
              </a:rPr>
              <a:t>AI-SOR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395728"/>
            <a:ext cx="3200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B9CDEB"/>
                </a:solidFill>
                <a:latin typeface="Noto Sans CJK KR"/>
              </a:rPr>
              <a:t>AI Share of Recommendation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3063240"/>
            <a:ext cx="32004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Noto Sans CJK KR"/>
              </a:rPr>
              <a:t>핵심 소비자 질문에서
자사 브랜드가 추천되는 비율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4160520"/>
            <a:ext cx="32004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Noto Sans CJK KR"/>
              </a:rPr>
              <a:t>예) 초등 수학 질문 100개 중
비상 교재 TOP3 추천 42회
→ AI-SOR 42%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00600" y="1737360"/>
            <a:ext cx="15087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235BB4"/>
                </a:solidFill>
                <a:latin typeface="Noto Sans CJK KR"/>
              </a:rPr>
              <a:t>AI 언급률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1737360"/>
            <a:ext cx="49834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C2026"/>
                </a:solidFill>
                <a:latin typeface="Noto Sans CJK KR"/>
              </a:rPr>
              <a:t>질문 세트 중 자사 브랜드가 등장한 비율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00600" y="2542032"/>
            <a:ext cx="15087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235BB4"/>
                </a:solidFill>
                <a:latin typeface="Noto Sans CJK KR"/>
              </a:rPr>
              <a:t>TOP3 추천률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2542032"/>
            <a:ext cx="49834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C2026"/>
                </a:solidFill>
                <a:latin typeface="Noto Sans CJK KR"/>
              </a:rPr>
              <a:t>상위 추천 후보 3개 안에 포함된 비율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00600" y="3346704"/>
            <a:ext cx="15087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235BB4"/>
                </a:solidFill>
                <a:latin typeface="Noto Sans CJK KR"/>
              </a:rPr>
              <a:t>출처 점유율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3346704"/>
            <a:ext cx="49834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C2026"/>
                </a:solidFill>
                <a:latin typeface="Noto Sans CJK KR"/>
              </a:rPr>
              <a:t>AI 답변 근거로 자사/우호 콘텐츠가 인용된 비율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0600" y="4151376"/>
            <a:ext cx="15087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235BB4"/>
                </a:solidFill>
                <a:latin typeface="Noto Sans CJK KR"/>
              </a:rPr>
              <a:t>질문 커버리지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4151376"/>
            <a:ext cx="49834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C2026"/>
                </a:solidFill>
                <a:latin typeface="Noto Sans CJK KR"/>
              </a:rPr>
              <a:t>핵심 질문군 중 근거 콘텐츠를 확보한 비율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0600" y="4956048"/>
            <a:ext cx="15087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235BB4"/>
                </a:solidFill>
                <a:latin typeface="Noto Sans CJK KR"/>
              </a:rPr>
              <a:t>정보 일치율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4956048"/>
            <a:ext cx="49834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C2026"/>
                </a:solidFill>
                <a:latin typeface="Noto Sans CJK KR"/>
              </a:rPr>
              <a:t>웹·블로그·커머스의 핵심 상품정보 일치 수준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54880" y="5715000"/>
            <a:ext cx="6629400" cy="502920"/>
          </a:xfrm>
          <a:prstGeom prst="roundRect">
            <a:avLst/>
          </a:prstGeom>
          <a:solidFill>
            <a:srgbClr val="E8F1FC"/>
          </a:solidFill>
          <a:ln>
            <a:solidFill>
              <a:srgbClr val="E8F1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983480" y="5797296"/>
            <a:ext cx="61722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5263F"/>
                </a:solidFill>
                <a:latin typeface="Noto Sans CJK KR"/>
              </a:rPr>
              <a:t>※ AI 결과는 변동하므로 동일 질문·동일 주기·복수 AI로 추세를 관리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6510528"/>
            <a:ext cx="10927080" cy="9144"/>
          </a:xfrm>
          <a:prstGeom prst="rect">
            <a:avLst/>
          </a:prstGeom>
          <a:solidFill>
            <a:srgbClr val="DA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8368" y="6537960"/>
            <a:ext cx="987552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687487"/>
                </a:solidFill>
                <a:latin typeface="Noto Sans CJK KR"/>
              </a:rPr>
              <a:t>2027 콘텐츠마케팅 Core 브리핑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519672"/>
            <a:ext cx="5486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1">
                <a:solidFill>
                  <a:srgbClr val="687487"/>
                </a:solidFill>
                <a:latin typeface="Noto Sans CJK KR"/>
              </a:rPr>
              <a:t>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9728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235BB4"/>
                </a:solidFill>
                <a:latin typeface="Noto Sans CJK KR"/>
              </a:rPr>
              <a:t>08. KPI MEASUREMENT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15263F"/>
                </a:solidFill>
                <a:latin typeface="Noto Sans CJK KR"/>
              </a:rPr>
              <a:t>AI-SOR은 이렇게 측정한다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70432"/>
            <a:ext cx="109728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687487"/>
                </a:solidFill>
                <a:latin typeface="Noto Sans CJK KR"/>
              </a:rPr>
              <a:t>고정 질문 Pool을 동일 조건으로 반복 측정해 ‘추천 점유율의 추세’를 관리</a:t>
            </a:r>
          </a:p>
        </p:txBody>
      </p:sp>
      <p:sp>
        <p:nvSpPr>
          <p:cNvPr id="5" name="Oval 4"/>
          <p:cNvSpPr/>
          <p:nvPr/>
        </p:nvSpPr>
        <p:spPr>
          <a:xfrm>
            <a:off x="1252728" y="1572768"/>
            <a:ext cx="502920" cy="502920"/>
          </a:xfrm>
          <a:prstGeom prst="ellipse">
            <a:avLst/>
          </a:prstGeom>
          <a:solidFill>
            <a:srgbClr val="235BB4"/>
          </a:solidFill>
          <a:ln>
            <a:solidFill>
              <a:srgbClr val="235B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252728" y="1572768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CJK KR"/>
              </a:rP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240280"/>
            <a:ext cx="20116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2423160"/>
            <a:ext cx="17373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15263F"/>
                </a:solidFill>
                <a:latin typeface="Noto Sans CJK KR"/>
              </a:rPr>
              <a:t>질문 Pool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816352"/>
            <a:ext cx="1737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1C2026"/>
                </a:solidFill>
                <a:latin typeface="Noto Sans CJK KR"/>
              </a:rPr>
              <a:t>카테고리별
핵심 질문 50개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96312" y="2651760"/>
            <a:ext cx="347472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100" b="1">
                <a:solidFill>
                  <a:srgbClr val="687487"/>
                </a:solidFill>
                <a:latin typeface="Noto Sans CJK KR"/>
              </a:rPr>
              <a:t>→</a:t>
            </a:r>
          </a:p>
        </p:txBody>
      </p:sp>
      <p:sp>
        <p:nvSpPr>
          <p:cNvPr id="11" name="Oval 10"/>
          <p:cNvSpPr/>
          <p:nvPr/>
        </p:nvSpPr>
        <p:spPr>
          <a:xfrm>
            <a:off x="3584447" y="1572768"/>
            <a:ext cx="502920" cy="502920"/>
          </a:xfrm>
          <a:prstGeom prst="ellipse">
            <a:avLst/>
          </a:prstGeom>
          <a:solidFill>
            <a:srgbClr val="235BB4"/>
          </a:solidFill>
          <a:ln>
            <a:solidFill>
              <a:srgbClr val="235B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584447" y="1572768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CJK KR"/>
              </a:rPr>
              <a:t>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34639" y="2240280"/>
            <a:ext cx="20116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971799" y="2423160"/>
            <a:ext cx="17373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15263F"/>
                </a:solidFill>
                <a:latin typeface="Noto Sans CJK KR"/>
              </a:rPr>
              <a:t>복수 AI 측정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71799" y="2816352"/>
            <a:ext cx="1737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1C2026"/>
                </a:solidFill>
                <a:latin typeface="Noto Sans CJK KR"/>
              </a:rPr>
              <a:t>ChatGPT · Gemini
네이버 AI 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28031" y="2651760"/>
            <a:ext cx="347472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100" b="1">
                <a:solidFill>
                  <a:srgbClr val="687487"/>
                </a:solidFill>
                <a:latin typeface="Noto Sans CJK KR"/>
              </a:rPr>
              <a:t>→</a:t>
            </a:r>
          </a:p>
        </p:txBody>
      </p:sp>
      <p:sp>
        <p:nvSpPr>
          <p:cNvPr id="17" name="Oval 16"/>
          <p:cNvSpPr/>
          <p:nvPr/>
        </p:nvSpPr>
        <p:spPr>
          <a:xfrm>
            <a:off x="5916168" y="1572768"/>
            <a:ext cx="502920" cy="502920"/>
          </a:xfrm>
          <a:prstGeom prst="ellipse">
            <a:avLst/>
          </a:prstGeom>
          <a:solidFill>
            <a:srgbClr val="235BB4"/>
          </a:solidFill>
          <a:ln>
            <a:solidFill>
              <a:srgbClr val="235B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916168" y="1572768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CJK KR"/>
              </a:rPr>
              <a:t>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166359" y="2240280"/>
            <a:ext cx="20116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303520" y="2423160"/>
            <a:ext cx="17373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15263F"/>
                </a:solidFill>
                <a:latin typeface="Noto Sans CJK KR"/>
              </a:rPr>
              <a:t>응답 데이터화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0" y="2816352"/>
            <a:ext cx="1737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1C2026"/>
                </a:solidFill>
                <a:latin typeface="Noto Sans CJK KR"/>
              </a:rPr>
              <a:t>언급 · 추천 · TOP3
출처 · 경쟁사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59752" y="2651760"/>
            <a:ext cx="347472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100" b="1">
                <a:solidFill>
                  <a:srgbClr val="687487"/>
                </a:solidFill>
                <a:latin typeface="Noto Sans CJK KR"/>
              </a:rPr>
              <a:t>→</a:t>
            </a:r>
          </a:p>
        </p:txBody>
      </p:sp>
      <p:sp>
        <p:nvSpPr>
          <p:cNvPr id="23" name="Oval 22"/>
          <p:cNvSpPr/>
          <p:nvPr/>
        </p:nvSpPr>
        <p:spPr>
          <a:xfrm>
            <a:off x="8247888" y="1572768"/>
            <a:ext cx="502920" cy="502920"/>
          </a:xfrm>
          <a:prstGeom prst="ellipse">
            <a:avLst/>
          </a:prstGeom>
          <a:solidFill>
            <a:srgbClr val="235BB4"/>
          </a:solidFill>
          <a:ln>
            <a:solidFill>
              <a:srgbClr val="235B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47888" y="1572768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CJK KR"/>
              </a:rPr>
              <a:t>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98079" y="2240280"/>
            <a:ext cx="20116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635240" y="2423160"/>
            <a:ext cx="17373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15263F"/>
                </a:solidFill>
                <a:latin typeface="Noto Sans CJK KR"/>
              </a:rPr>
              <a:t>AI-SOR 계산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35240" y="2816352"/>
            <a:ext cx="1737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1C2026"/>
                </a:solidFill>
                <a:latin typeface="Noto Sans CJK KR"/>
              </a:rPr>
              <a:t>추천 응답 수 ÷
전체 추천형 응답 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91472" y="2651760"/>
            <a:ext cx="347472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100" b="1">
                <a:solidFill>
                  <a:srgbClr val="687487"/>
                </a:solidFill>
                <a:latin typeface="Noto Sans CJK KR"/>
              </a:rPr>
              <a:t>→</a:t>
            </a:r>
          </a:p>
        </p:txBody>
      </p:sp>
      <p:sp>
        <p:nvSpPr>
          <p:cNvPr id="29" name="Oval 28"/>
          <p:cNvSpPr/>
          <p:nvPr/>
        </p:nvSpPr>
        <p:spPr>
          <a:xfrm>
            <a:off x="10579608" y="1572768"/>
            <a:ext cx="502920" cy="502920"/>
          </a:xfrm>
          <a:prstGeom prst="ellipse">
            <a:avLst/>
          </a:prstGeom>
          <a:solidFill>
            <a:srgbClr val="238569"/>
          </a:solidFill>
          <a:ln>
            <a:solidFill>
              <a:srgbClr val="238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579608" y="1572768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CJK KR"/>
              </a:rPr>
              <a:t>5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829800" y="2240280"/>
            <a:ext cx="20116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966960" y="2423160"/>
            <a:ext cx="17373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15263F"/>
                </a:solidFill>
                <a:latin typeface="Noto Sans CJK KR"/>
              </a:rPr>
              <a:t>Gap 개선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66960" y="2816352"/>
            <a:ext cx="1737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1C2026"/>
                </a:solidFill>
                <a:latin typeface="Noto Sans CJK KR"/>
              </a:rPr>
              <a:t>미추천 질문 분석
콘텐츠 보강 → 재측정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85800" y="3977639"/>
            <a:ext cx="5212080" cy="1508760"/>
          </a:xfrm>
          <a:prstGeom prst="roundRect">
            <a:avLst/>
          </a:prstGeom>
          <a:solidFill>
            <a:srgbClr val="15263F"/>
          </a:solidFill>
          <a:ln>
            <a:solidFill>
              <a:srgbClr val="1526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14400" y="4187952"/>
            <a:ext cx="47548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Noto Sans CJK KR"/>
              </a:rPr>
              <a:t>AI-SOR = 자사 브랜드 추천 응답 수 ÷ 전체 추천형 응답 수 × 100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4645152"/>
            <a:ext cx="475488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Noto Sans CJK KR"/>
              </a:rPr>
              <a:t>예) 50개 질문 × 4개 AI = 200개 응답
비상 교재 추천 72회 → AI-SOR 36%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17920" y="3977639"/>
            <a:ext cx="5303520" cy="1508760"/>
          </a:xfrm>
          <a:prstGeom prst="roundRect">
            <a:avLst/>
          </a:prstGeom>
          <a:solidFill>
            <a:srgbClr val="F6F8FB"/>
          </a:solidFill>
          <a:ln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446520" y="4160520"/>
            <a:ext cx="48463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15263F"/>
                </a:solidFill>
                <a:latin typeface="Noto Sans CJK KR"/>
              </a:rPr>
              <a:t>측정 운영 원칙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73952" y="4553712"/>
            <a:ext cx="4663440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1C2026"/>
                </a:solidFill>
                <a:latin typeface="Noto Sans CJK KR"/>
              </a:rPr>
              <a:t>• 브랜드명을 넣지 않은 비브랜드 질문 사용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73952" y="4846320"/>
            <a:ext cx="4663440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1C2026"/>
                </a:solidFill>
                <a:latin typeface="Noto Sans CJK KR"/>
              </a:rPr>
              <a:t>• 동일 질문 · 동일 AI · 동일 주기로 반복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73952" y="5138928"/>
            <a:ext cx="4663440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1C2026"/>
                </a:solidFill>
                <a:latin typeface="Noto Sans CJK KR"/>
              </a:rPr>
              <a:t>• 월 1회 또는 분기 1회 추세 중심으로 관리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85800" y="5742432"/>
            <a:ext cx="10835640" cy="502920"/>
          </a:xfrm>
          <a:prstGeom prst="roundRect">
            <a:avLst/>
          </a:prstGeom>
          <a:solidFill>
            <a:srgbClr val="E8F1FC"/>
          </a:solidFill>
          <a:ln>
            <a:solidFill>
              <a:srgbClr val="E8F1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68680" y="5824728"/>
            <a:ext cx="104698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15263F"/>
                </a:solidFill>
                <a:latin typeface="Noto Sans CJK KR"/>
              </a:rPr>
              <a:t>핵심은 절대값이 아니라 ‘동일한 질문에서 우리 추천 점유율이 상승하고 있는가?’를 지속적으로 보는 것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0080" y="6510528"/>
            <a:ext cx="10927080" cy="9144"/>
          </a:xfrm>
          <a:prstGeom prst="rect">
            <a:avLst/>
          </a:prstGeom>
          <a:solidFill>
            <a:srgbClr val="DA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58368" y="6537960"/>
            <a:ext cx="987552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687487"/>
                </a:solidFill>
                <a:latin typeface="Noto Sans CJK KR"/>
              </a:rPr>
              <a:t>AI-SOR은 내부 운영용 KPI 개념. Mention / Recommendation / Citation / Share of Voice 방식 참고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972800" y="6519672"/>
            <a:ext cx="5486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1">
                <a:solidFill>
                  <a:srgbClr val="687487"/>
                </a:solidFill>
                <a:latin typeface="Noto Sans CJK KR"/>
              </a:rPr>
              <a:t>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9728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235BB4"/>
                </a:solidFill>
                <a:latin typeface="Noto Sans CJK KR"/>
              </a:rPr>
              <a:t>09. 2027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15263F"/>
                </a:solidFill>
                <a:latin typeface="Noto Sans CJK KR"/>
              </a:rPr>
              <a:t>내년 실행계획은 ‘기반 → 확산 → 측정 → 최적화’로</a:t>
            </a:r>
          </a:p>
        </p:txBody>
      </p:sp>
      <p:sp>
        <p:nvSpPr>
          <p:cNvPr id="4" name="Oval 3"/>
          <p:cNvSpPr/>
          <p:nvPr/>
        </p:nvSpPr>
        <p:spPr>
          <a:xfrm>
            <a:off x="1554480" y="1737360"/>
            <a:ext cx="731520" cy="731520"/>
          </a:xfrm>
          <a:prstGeom prst="ellipse">
            <a:avLst/>
          </a:prstGeom>
          <a:solidFill>
            <a:srgbClr val="235BB4"/>
          </a:solidFill>
          <a:ln>
            <a:solidFill>
              <a:srgbClr val="235B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554480" y="1737360"/>
            <a:ext cx="7315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KR"/>
              </a:rPr>
              <a:t>Q1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286000" y="2103120"/>
            <a:ext cx="1143000" cy="0"/>
          </a:xfrm>
          <a:prstGeom prst="line">
            <a:avLst/>
          </a:prstGeom>
          <a:ln w="254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685800" y="2743200"/>
            <a:ext cx="251460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2971800"/>
            <a:ext cx="21488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15263F"/>
                </a:solidFill>
                <a:latin typeface="Noto Sans CJK KR"/>
              </a:rPr>
              <a:t>기반 구축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520440"/>
            <a:ext cx="21488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1C2026"/>
                </a:solidFill>
                <a:latin typeface="Noto Sans CJK KR"/>
              </a:rPr>
              <a:t>핵심 카테고리·질문맵
상품정보 표준화
웹 접근성/구조 점검</a:t>
            </a:r>
          </a:p>
        </p:txBody>
      </p:sp>
      <p:sp>
        <p:nvSpPr>
          <p:cNvPr id="10" name="Oval 9"/>
          <p:cNvSpPr/>
          <p:nvPr/>
        </p:nvSpPr>
        <p:spPr>
          <a:xfrm>
            <a:off x="4343400" y="1737360"/>
            <a:ext cx="731520" cy="731520"/>
          </a:xfrm>
          <a:prstGeom prst="ellipse">
            <a:avLst/>
          </a:prstGeom>
          <a:solidFill>
            <a:srgbClr val="235BB4"/>
          </a:solidFill>
          <a:ln>
            <a:solidFill>
              <a:srgbClr val="235B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343400" y="1737360"/>
            <a:ext cx="7315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KR"/>
              </a:rPr>
              <a:t>Q2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074920" y="2103120"/>
            <a:ext cx="1143000" cy="0"/>
          </a:xfrm>
          <a:prstGeom prst="line">
            <a:avLst/>
          </a:prstGeom>
          <a:ln w="254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474720" y="2743200"/>
            <a:ext cx="251460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57600" y="2971800"/>
            <a:ext cx="21488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15263F"/>
                </a:solidFill>
                <a:latin typeface="Noto Sans CJK KR"/>
              </a:rPr>
              <a:t>근거 확산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3520440"/>
            <a:ext cx="21488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1C2026"/>
                </a:solidFill>
                <a:latin typeface="Noto Sans CJK KR"/>
              </a:rPr>
              <a:t>블로그·뉴스·전문콘텐츠
커머스 정보 정비
후기·사례 축적</a:t>
            </a:r>
          </a:p>
        </p:txBody>
      </p:sp>
      <p:sp>
        <p:nvSpPr>
          <p:cNvPr id="16" name="Oval 15"/>
          <p:cNvSpPr/>
          <p:nvPr/>
        </p:nvSpPr>
        <p:spPr>
          <a:xfrm>
            <a:off x="7132320" y="1737360"/>
            <a:ext cx="731520" cy="731520"/>
          </a:xfrm>
          <a:prstGeom prst="ellipse">
            <a:avLst/>
          </a:prstGeom>
          <a:solidFill>
            <a:srgbClr val="235BB4"/>
          </a:solidFill>
          <a:ln>
            <a:solidFill>
              <a:srgbClr val="235B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132320" y="1737360"/>
            <a:ext cx="7315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KR"/>
              </a:rPr>
              <a:t>Q3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863840" y="2103120"/>
            <a:ext cx="1143000" cy="0"/>
          </a:xfrm>
          <a:prstGeom prst="line">
            <a:avLst/>
          </a:prstGeom>
          <a:ln w="254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263640" y="2743200"/>
            <a:ext cx="251460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46520" y="2971800"/>
            <a:ext cx="21488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15263F"/>
                </a:solidFill>
                <a:latin typeface="Noto Sans CJK KR"/>
              </a:rPr>
              <a:t>추천 점유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3520440"/>
            <a:ext cx="21488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1C2026"/>
                </a:solidFill>
                <a:latin typeface="Noto Sans CJK KR"/>
              </a:rPr>
              <a:t>핵심 질문군 집중 공략
AI-SOR 정기 측정
경쟁사 비교</a:t>
            </a:r>
          </a:p>
        </p:txBody>
      </p:sp>
      <p:sp>
        <p:nvSpPr>
          <p:cNvPr id="22" name="Oval 21"/>
          <p:cNvSpPr/>
          <p:nvPr/>
        </p:nvSpPr>
        <p:spPr>
          <a:xfrm>
            <a:off x="9921239" y="1737360"/>
            <a:ext cx="731520" cy="731520"/>
          </a:xfrm>
          <a:prstGeom prst="ellipse">
            <a:avLst/>
          </a:prstGeom>
          <a:solidFill>
            <a:srgbClr val="238569"/>
          </a:solidFill>
          <a:ln>
            <a:solidFill>
              <a:srgbClr val="238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921239" y="1737360"/>
            <a:ext cx="7315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KR"/>
              </a:rPr>
              <a:t>Q4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52559" y="2743200"/>
            <a:ext cx="251460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35439" y="2971800"/>
            <a:ext cx="21488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15263F"/>
                </a:solidFill>
                <a:latin typeface="Noto Sans CJK KR"/>
              </a:rPr>
              <a:t>최적화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35439" y="3520440"/>
            <a:ext cx="21488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1C2026"/>
                </a:solidFill>
                <a:latin typeface="Noto Sans CJK KR"/>
              </a:rPr>
              <a:t>미추천 질문 원인 분석
근거 콘텐츠 보강
2028 확장 카테고리 선정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" y="5257800"/>
            <a:ext cx="10972800" cy="868680"/>
          </a:xfrm>
          <a:prstGeom prst="roundRect">
            <a:avLst/>
          </a:prstGeom>
          <a:solidFill>
            <a:srgbClr val="15263F"/>
          </a:solidFill>
          <a:ln>
            <a:solidFill>
              <a:srgbClr val="1526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14400" y="5413248"/>
            <a:ext cx="105156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Noto Sans CJK KR"/>
              </a:rPr>
              <a:t>2027 콘텐츠마케팅의 질문
“이 콘텐츠는 조회수를 만들었는가?” + “AI가 우리를 추천할 근거를 만들었는가?”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6510528"/>
            <a:ext cx="10927080" cy="9144"/>
          </a:xfrm>
          <a:prstGeom prst="rect">
            <a:avLst/>
          </a:prstGeom>
          <a:solidFill>
            <a:srgbClr val="DA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58368" y="6537960"/>
            <a:ext cx="987552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687487"/>
                </a:solidFill>
                <a:latin typeface="Noto Sans CJK KR"/>
              </a:rPr>
              <a:t>2027 콘텐츠마케팅 Core 브리핑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0" y="6519672"/>
            <a:ext cx="5486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1">
                <a:solidFill>
                  <a:srgbClr val="687487"/>
                </a:solidFill>
                <a:latin typeface="Noto Sans CJK KR"/>
              </a:rPr>
              <a:t>10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26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685800"/>
            <a:ext cx="106070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91BEFF"/>
                </a:solidFill>
                <a:latin typeface="Noto Sans CJK KR"/>
              </a:rPr>
              <a:t>2027 CONTENT MARKETING DIRECTION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6070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100" b="1">
                <a:solidFill>
                  <a:srgbClr val="FFFFFF"/>
                </a:solidFill>
                <a:latin typeface="Noto Sans CJK KR"/>
              </a:rPr>
              <a:t>AI가 교육을 답할 때,
비상교육이 기준이 되게 한다.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880360"/>
            <a:ext cx="100584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DAE6F7"/>
                </a:solidFill>
                <a:latin typeface="Noto Sans CJK KR"/>
              </a:rPr>
              <a:t>우리의 콘텐츠는 ‘노출물’이 아니라 AI 시대의 브랜드 근거 자산입니다.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3931920"/>
            <a:ext cx="106070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1560" y="4160520"/>
            <a:ext cx="10058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235BB4"/>
                </a:solidFill>
                <a:latin typeface="Noto Sans CJK KR"/>
              </a:rPr>
              <a:t>팀별 2027 실행안 준비 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4526280"/>
            <a:ext cx="100584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5263F"/>
                </a:solidFill>
                <a:latin typeface="Noto Sans CJK KR"/>
              </a:rPr>
              <a:t>① 어떤 고객 질문을 점유할 것인가  ② 어떤 근거를 만들 것인가  ③ 어떤 채널에 축적할 것인가  ④ 어떻게 측정할 것인가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035040"/>
            <a:ext cx="105156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AFBED3"/>
                </a:solidFill>
                <a:latin typeface="Noto Sans CJK KR"/>
              </a:rPr>
              <a:t>Sources: OpenAI Help Center (ChatGPT Search / Shopping); Naver AI Briefing 관련 공식·공개 자료 참고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1227</Words>
  <Application>Microsoft Office PowerPoint</Application>
  <PresentationFormat>와이드스크린</PresentationFormat>
  <Paragraphs>206</Paragraphs>
  <Slides>15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21" baseType="lpstr">
      <vt:lpstr>Noto Sans CJK KR</vt:lpstr>
      <vt:lpstr>나눔스퀘어_ac ExtraBold</vt:lpstr>
      <vt:lpstr>맑은 고딕</vt:lpstr>
      <vt:lpstr>Arial</vt:lpstr>
      <vt:lpstr>Calibri</vt:lpstr>
      <vt:lpstr>Office Theme</vt:lpstr>
      <vt:lpstr>9월 크리에이티브 한입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김동남 콘텐츠마케팅 Core</cp:lastModifiedBy>
  <cp:revision>5</cp:revision>
  <dcterms:created xsi:type="dcterms:W3CDTF">2013-01-27T09:14:16Z</dcterms:created>
  <dcterms:modified xsi:type="dcterms:W3CDTF">2026-09-08T01:46:19Z</dcterms:modified>
  <cp:category/>
</cp:coreProperties>
</file>